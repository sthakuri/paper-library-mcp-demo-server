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067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Hi everyone. Today I'll talk about the Model Context Protocol, or MCP. It's the standard most AI apps now use to connect a language model to outside tools and data. I'll cover why it exists, how it works, how it compares to things you already know (function calling, REST, RAG), what changed in the newest version of the spec, and then a short live demo. All protocol details follow the current spec, version 2026-07-28. Slide numbers are in the bottom right corner, so feel free to say "go back to slide 12" in the chat.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Here's the plan. We start with a few key terms so everyone can follow, then go through the required topics in order. The demo comes near the end so you already know the vocabulary when you see the real messages. Questions at the end, but feel free to drop them in the Zoom chat as we go.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Quick vocabulary so everyone starts on the same page. An LLM, a large language model, is the AI that reads and writes text, like Claude or ChatGPT. Context is everything the model can see when it answers: the chat, any files, and any tool results. That word is literally in the name: Model Context Protocol. An AI agent is an LLM that can take steps on its own, like searching or saving a file. A protocol is a set of agreed rules for how two programs talk; HTTP is the protocol of the web. The spec is the document where those rules are written down. An API is a way for one program to ask another to do something. JSON is the text format almost all of these messages use. And a server offers a service, a client uses it. Whenever a new term comes up later, look for the light box with the book icon at the bottom of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core problem is integration. An integration is just the custom code that connects one app to one other system. A language model on its own only knows its training data. To be useful it needs your files, your database, your GitHub, your calendar. Before MCP, every AI app built its own connector to every system. With M apps and N systems you get M times N integrations, each with its own login, data format, and bugs. MCP turns that into M plus N: each app implements the client side once, each system implements the server side once, and any app works with any server. If you've used VS Code, you've seen this idea before: the Language Server Protocol, LSP, lets any editor get autocomplete and error checking for any language through one standard. The official docs also call MCP "a USB-C port for AI applications": one plug shape that fits everything.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 little history. Anthropic released MCP as open source in November 2024, with SDKs and a set of example servers. Open source means anyone can read, use, and improve it for free. During 2025 the other big players adopted it: ChatGPT, VS Code, Cursor and many others now act as MCP clients. In December 2025 Anthropic donated MCP to the Agentic AI Foundation, a fund under the Linux Foundation, the nonprofit that also runs projects like Linux and Kubernetes. That makes it vendor-neutral: no single company controls it. The newest spec revision, July 2026, is a big redesign that I'll cover near the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Three roles. The HOST is the AI application the user actually sees, like Claude, VS Code, or Cursor. It runs the model, manages connections, and asks the user before risky actions. For each server it connects to, the host creates one MCP CLIENT. That client keeps one dedicated connection to one server. The MCP SERVER is a program that offers capabilities: tools, resources, prompts. "Server" says nothing about where it runs. A filesystem server is usually a local process on your laptop talking over stdin and stdout; Sentry's server is a remote web service over HTTP (dashed box). Clients can also offer something back to servers, mainly elicitation: the server can ask the user a question through the host. Key point: the model never talks to servers directly. The host sits in the middle and decides what gets through.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If the diagram felt abstract, here's an analogy. The HOST is like your web browser: it's the app you actually use. A SERVER is like a website: it offers something, in this case tools and data. A CLIENT is like one browser tab: one connection to one site, and the browser can have many tabs open. The analogy isn't perfect, since the server here is talking to an AI rather than a person, but it captures the structure. And like a browser asking "allow this site to use your camera?", the host is the one that asks you before the model does anything risky.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MCP is split into two layers, a bit like a letter and the postal service. The inner DATA layer is the letter: what the message says. MCP uses JSON-RPC 2.0, which is just a small JSON message with a method name, the inputs (params), and an id so the reply can be matched to the question. The outer TRANSPORT layer is the postal service: how the message gets there. For a local program that's stdio, the standard input and output pipes every program has (the same place print() writes to). For a remote server it's Streamable HTTP, meaning normal web requests. The transport also handles login. Because the layers are separate, the exact same message on the right works over either transport. Notice the _meta field: in the new spec every request carries its protocol version and the client's capabilities (the features it supports). More on that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most important slide. A TOOL performs an action: search, send an email, write a row. The MODEL decides when to call it. A RESOURCE provides data or context: a file, a database schema, a reading list. It's read, not run, and the APPLICATION (or the user through the app's UI) decides what to load. A PROMPT is a reusable interaction template, usually shown as a slash command. The USER picks it. So the split is not only what each one is, but who controls it: model, application, or user. MCP doesn't invent these ideas. What it standardizes is how all three are described, discovered, and used, so any host works with any server.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Tools first. A tool has a name, a plain-language description, and an input schema. JSON Schema is a standard way to describe what JSON data should look like: which fields, what types, which are required. Here add_note needs a paper_id and a note, both strings. The description matters a lot: it's what the model reads to decide whether to use the tool, so writing it is basically prompt engineering. Tools can also declare an output schema and return typed "structured content". Annotations are extra labels like "read-only" or "destructive". They help the host decide when to ask the user, but they're only hints: the spec says clients must not trust them unless the server is trusted. There are two kinds of errors: protocol errors, like an unknown tool name, and tool errors, returned with isError true. The second kind goes back to the model so it can correct itself. You'll see that in the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Resources are data. Each one has a URI, which is just an address, like a web link; ours look like papers://react. Each also has a MIME type, a label that says what kind of data it is, like JSON or a PNG image. The client lists the resources, then reads the ones it needs. The key difference from tools is control: a resource doesn't run anything, and the application decides what to include, for example through a file picker or an "attach" menu. A resource template is an address with a blank in it. Instead of listing every paper, the server publishes one pattern, papers://{paper_id}, and the client fills in the id. The pattern format comes from RFC 6570, an internet standard for URI templates. Templates are found with resources/templates/list. That's how a server can offer millions of records without listing them all. Clients can also subscribe to be told when a resource changes.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Prompts are the least known primitive. A prompt is a template written by the server author, with arguments, which are blanks the user fills in, like which paper to review. The user picks the prompt, often as a slash command: you type a slash and a name in the chat box, like /review_paper, and the host runs that saved shortcut. The server then returns ready-made messages to start the conversation. It's a way for whoever built the server to share know-how: here's the best way to ask the model to review a paper, or to query this database. Prompt messages can also include resources, so a prompt can pull in a file automatically.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Discovery is what makes MCP plug-and-play. "At runtime" means while the app is running, not when someone wrote the code. The client doesn't need to know anything about the server ahead of time. It can call server/discover to learn which protocol versions and capabilities the server has. Capabilities are just the features each side supports, for example "I have tools" or "I can tell you when my tool list changes", so neither side asks for something the other can't do. Then the list methods tell it what tools, resources, templates, and prompts exist. Lists can change while the app runs, for example when a user gets new permissions, so a client can open a subscriptions/listen stream and get a notification instead of asking again and again. New in the 2026 spec, list results also say how long they can be cached (ttlMs and cacheScope). On the host side, tools from all servers get merged into one list for the model. If two servers both have a "search" tool, the host has to prefix the names to tell them apart.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Let's put it together. The user asks something. The host sends the conversation and the merged tool list to the model. The model picks a tool. The host routes that to the right MCP client (after asking the user, if the tool is risky), which sends a tools/call request to the server. The server does the work and sends back a response with the same id, so the client knows which question it answers. The host adds the result to the context and the model continues, maybe calling another tool. Only steps 4 and 5, the blue ones, are actually MCP. MCP has three kinds of messages: a request, which asks for something and has an id; a response, the reply with the same id; and a notification, a one-way message like "50% done" that gets no reply.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Two standard ways to carry the messages. stdio: the host starts the server as a small local program, and they pass one JSON message per line through its input and output pipes. Simple, fast, no network, good for local tools. Login is usually an API key placed in an environment variable, a setting the program gets when it starts. Streamable HTTP: the server is a web service at one address, like /mcp. Every message is its own normal web request (an HTTP POST), and the reply is either plain JSON or a stream of updates using server-sent events (SSE), if the server wants to report progress first. Remote servers like GitHub's or Sentry's use this, with an OAuth token, which is a temporary access pass. New in the 2026 spec: each request must also put the protocol version, the method, and (for tool calls, resource reads, and prompts) the name in HTTP headers, matching the body. A gateway, the server that sits in front and routes traffic, can then route or rate-limit without opening the JSON. I hit this while building the demo: my curl call failed until I added the Mcp-Name header. For safety, HTTP servers must check the Origin header, and local ones should listen only on 127.0.0.1.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Authentication means proving who you are; authorization means deciding what you're allowed to do. MCP uses OAuth 2.1 for both. It's the same flow as "Sign in with Google": you log in on the real site and approve the app, and the app gets a token, a temporary access pass, without ever seeing your password. The flow: the client calls the server without a token and gets a 401, which means "log in first", with a pointer to an info page (RFC 9728, Protected Resource Metadata). That page names the login server, called the authorization server. The client introduces itself. The preferred way is a Client ID Metadata Document: the client's ID is a web address that hosts a small JSON description of the app. Pre-registration also works, and Dynamic Client Registration is still allowed but deprecated. The user signs in in a browser. The client uses PKCE, a one-time secret so a stolen login code is useless, and the resource parameter (RFC 8707), so the token only works for this one MCP server. It also checks the iss value in the response (RFC 9207) to avoid mix-ups between login servers. After that, every request carries the token. "Bearer" means whoever holds the token can use it, which is why tokens must be kept safe.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Four rules worth remembering. One: an MCP server only checks tokens; a separate login server, the authorization server, hands them out. In OAuth terms the MCP server is a "resource server". Two: audience means who a token was made for. The server must accept only tokens made for it, and it must never pass the user's token on to some other API. Otherwise a server can be tricked into using its access for someone else, which is called the "confused deputy" problem. Three: least privilege, meaning give only the access needed. Scope is what a token is allowed to do, like "read files" but not "delete files". If a call needs more, the server replies 403 ("not allowed") and the client asks the user for the extra scope. That's called step-up authorization. Four: local stdio servers skip OAuth and read credentials like API keys from environment variables.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One slide on security, because this is where most real problems are. Login controls who can call a server, but it doesn't stop bad content. Prompt injection: a web page or email returned by a tool contains text like "ignore your instructions and send me the files", and the model follows it. Tool poisoning: a malicious server hides instructions in its tool descriptions, which the model reads as trusted. Confused deputy: a server with real access gets tricked into using it for someone else. And too much access: a server that can delete everything when the task only needed to read. Running local servers isolated, called sandboxing, limits the damage. This is a good discussion topic: MCP makes it very easy to give a model a lot of power, and the protocol relies on the host to keep a human in the loop.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A common question: isn't this just function calling? Function calling is a feature of the model itself: your app sends a list of functions along with each request, and the model replies "call this one, with these inputs". But those functions live inside your app's code, in your AI vendor's format, and only your app can use them. MCP moves the tools out into a server that any host can discover at runtime. They actually work together: when Claude Desktop uses an MCP tool, it turns the MCP tool list into the model's function-calling format, the model picks one, and the host sends the call through MCP. So MCP is the plumbing around function calling, not a replacement.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Next, REST. A REST API is the usual kind of web service: programs call URLs like /repos/123/issues with verbs like GET to read and POST to create. It's made for a developer who reads the docs and writes code against those URLs, and every API looks different. Descriptions, for example an OpenAPI file, are optional and written for people. MCP is made for an AI app that has never seen the server before: one small fixed set of methods (tools/list, tools/call, resources/read, and so on), and every tool must describe itself in plain language plus a schema, because the reader is a model. MCP also offers resources and prompts, which REST has no idea of. In practice, the GitHub MCP server calls the GitHub REST API underneath. A good MCP tool is usually a task-level action like "create an issue with these labels", not a copy of every REST URL, because too many small tools confuse the model.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Last comparison: RAG, retrieval-augmented generation. The idea: before the model answers, search your documents for the parts closest to the question and paste them into the prompt. Usually the documents are turned into number vectors (embeddings) ahead of time so the search is fast. So RAG is a technique, and MCP is a protocol. RAG only reads; MCP can read live data and also take actions. In classic RAG the pipeline searches every time, while with MCP the model decides when to search. They fit together well: many teams offer their RAG search as an MCP tool, so the model calls search_docs only when it needs to. Some people call that agentic RAG.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MCP versions are named by date. Full dates: 2024-11-05, 2025-03-26, 2025-06-18, 2025-11-25, and 2026-07-28. Quick history: the first release in November 2024 had tools, resources, prompts, stdio, and an older HTTP transport. March 2025 added OAuth login, the Streamable HTTP transport, and tool annotations. June 2025 added structured output, meaning results as typed JSON instead of only text, and elicitation, where a server can ask the user a question, like "which account?". November 2025 added Client ID Metadata Documents for login, experimental tasks, meaning long jobs that the client checks on later, and icons. July 2026 is the big one, next slide. Changes are proposed in public SEPs, Spec Enhancement Proposals, like PEPs in Python.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July 2026 revision is the biggest change since launch. "Stateless" means the server doesn't remember anything between requests; each request carries everything needed to handle it. Before, MCP worked like a phone call: a handshake (an opening hello called "initialize"), then a session where the server remembered you through an Mcp-Session-Id. That's painful at scale, because every request from one client had to reach the same server copy. Now it works more like sending letters: every request is complete on its own and carries the protocol version and client capabilities in _meta. If you want to ask first, server/discover replaces the handshake. If a tool needs to remember something, like a shopping cart, the server returns a handle, an ID like basket_id, and the model passes it back. Servers also no longer send requests to the client. If a tool needs the user's input (elicitation), it replies "input_required", and the client sends the same request again with the answers. That's called Multi Round-Trip Requests. Updates now come through one subscriptions/listen stream. Results also say how long to cache them (ttlMs and cacheScope). The win: any request can go to any server copy behind a load balancer, or even a serverless function.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Deprecated means "still works, but don't build new things on it; it will be removed later". The new policy guarantees at least 12 months before removal. Sampling let a server borrow the app's LLM to generate text; now servers should call a model API directly. Roots let the app tell a server which folders it may use; now you just pass paths as tool arguments. Logging through MCP is replaced by normal logs (stderr) or OpenTelemetry, a standard monitoring tool. Dynamic Client Registration is replaced by Client ID Metadata Documents for login. The old HTTP plus SSE transport is formally deprecated. Tasks, for long jobs, moved out of the core into an extension, an optional add-on. MCP Apps is another extension that lets servers show interactive UI inside the chat. A few things were removed outright: ping, logging/setLevel, and resumable SSE streams. The theme is a smaller, simpler core with optional add-ons around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Now the demo. I built a small server called Paper Library. It has exactly what the assignment asks for: one resource, the seminar reading list (papers://reading-list), and two tools: search_papers, which only reads, and add_note, which changes data. I also added a resource template and a prompt so you can see every primitive. It's written with the official Python SDK, version 2.2, which speaks the new 2026-07-28 protocol.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Here's the core of the server, simplified for the slide. The real file is paper_server.py, about 120 lines with the template and the prompt. It uses the official Python SDK, a library that handles all the protocol details for you. You create a server, then put decorators on plain Python functions. A decorator is the line starting with @ above a function; here it registers the function with the server. The resource decorator takes an address. The tool decorator turns a function into a tool. Type hints are the labels like str or list that say what kind of value is expected; the SDK reads them to build the input JSON Schema, and reads the return type to build the output schema. The ReadOnly annotation tells the host that search is safe. For a remote server you'd pass transport="streamable-http" to run(). Now let me switch to the terminal. (Zoom tip: make the terminal font big, around 20pt, before you share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for the live part. Before sharing: make the terminal font big (about 20pt) and use a dark-on-light or light-on-dark theme with strong contrast. Run "python wire_demo.py --pause" and press Enter between steps. It sends raw JSON-RPC to the server over stdio so everyone sees the real messages. Point out: (1) server/discover returns capabilities with no handshake. (2) tools/list shows schemas built from type hints. (3) Reading the resource returns data and changes nothing. (4) search_papers returns both text and structured content. (5) add_note changes data, and reading papers://react afterwards shows the note: tool = action, resource = data. (6) A bad paper id comes back as isError true with the list of valid ids, so a model could fix its call. If time allows: python paper_server.py --http and bash http_demo.sh to show the same thing over HTTP, or the MCP Inspector. Backup if the live demo fails: show sample_output.txt from the demo folder.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 wrap up, five points. MCP solves the M times N integration problem. Hosts create one client per server and stay in charge of what the model can do. Tools act, resources inform, prompts guide, and the protocol standardizes how all three are exposed. It sits on top of function calling, REST, and RAG; it doesn't replace them. And the latest spec made it stateless, which makes remote MCP servers much easier to run.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If the room is quiet, use the discussion questions. Good follow-ups: the trade-off between confirmation prompts and "approval fatigue"; how stateless design pushes state into explicit handles the model must carry; and how to audit third-party servers (pin versions, read tool descriptions, run in a sandbox, use narrow scopes). I'll paste the reference links in the Zoom chat.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616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13421"/>
            <a:ext cx="10566400" cy="423177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616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13421"/>
            <a:ext cx="10566400" cy="423177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12800" y="812800"/>
            <a:ext cx="609600" cy="76200"/>
          </a:xfrm>
          <a:prstGeom prst="roundRect">
            <a:avLst>
              <a:gd name="adj" fmla="val 50000"/>
            </a:avLst>
          </a:prstGeom>
          <a:solidFill>
            <a:srgbClr val="7FA8F0"/>
          </a:solidFill>
          <a:ln/>
        </p:spPr>
        <p:txBody>
          <a:bodyPr/>
          <a:lstStyle/>
          <a:p>
            <a:endParaRPr lang="en-US"/>
          </a:p>
        </p:txBody>
      </p:sp>
      <p:sp>
        <p:nvSpPr>
          <p:cNvPr id="3" name="Shape 1"/>
          <p:cNvSpPr/>
          <p:nvPr/>
        </p:nvSpPr>
        <p:spPr>
          <a:xfrm>
            <a:off x="1524000" y="812800"/>
            <a:ext cx="609600" cy="76200"/>
          </a:xfrm>
          <a:prstGeom prst="roundRect">
            <a:avLst>
              <a:gd name="adj" fmla="val 50000"/>
            </a:avLst>
          </a:prstGeom>
          <a:solidFill>
            <a:srgbClr val="F0A35E"/>
          </a:solidFill>
          <a:ln/>
        </p:spPr>
        <p:txBody>
          <a:bodyPr/>
          <a:lstStyle/>
          <a:p>
            <a:endParaRPr lang="en-US"/>
          </a:p>
        </p:txBody>
      </p:sp>
      <p:sp>
        <p:nvSpPr>
          <p:cNvPr id="4" name="Shape 2"/>
          <p:cNvSpPr/>
          <p:nvPr/>
        </p:nvSpPr>
        <p:spPr>
          <a:xfrm>
            <a:off x="2235200" y="812800"/>
            <a:ext cx="609600" cy="76200"/>
          </a:xfrm>
          <a:prstGeom prst="roundRect">
            <a:avLst>
              <a:gd name="adj" fmla="val 50000"/>
            </a:avLst>
          </a:prstGeom>
          <a:solidFill>
            <a:srgbClr val="7CCBA2"/>
          </a:solidFill>
          <a:ln/>
        </p:spPr>
        <p:txBody>
          <a:bodyPr/>
          <a:lstStyle/>
          <a:p>
            <a:endParaRPr lang="en-US"/>
          </a:p>
        </p:txBody>
      </p:sp>
      <p:sp>
        <p:nvSpPr>
          <p:cNvPr id="5" name="Text 3"/>
          <p:cNvSpPr/>
          <p:nvPr/>
        </p:nvSpPr>
        <p:spPr>
          <a:xfrm>
            <a:off x="812800" y="1908175"/>
            <a:ext cx="10883392"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0A35E"/>
                </a:solidFill>
                <a:latin typeface="JetBrains Mono" pitchFamily="49" charset="0"/>
                <a:ea typeface="JetBrains Mono" pitchFamily="49" charset="-122"/>
                <a:cs typeface="JetBrains Mono" pitchFamily="49" charset="-120"/>
              </a:rPr>
              <a:t>GRADUATE SEMINAR</a:t>
            </a:r>
            <a:endParaRPr lang="en-US" sz="1600" dirty="0"/>
          </a:p>
        </p:txBody>
      </p:sp>
      <p:sp>
        <p:nvSpPr>
          <p:cNvPr id="6" name="Text 4"/>
          <p:cNvSpPr>
            <a:spLocks noGrp="1"/>
          </p:cNvSpPr>
          <p:nvPr>
            <p:ph type="title"/>
          </p:nvPr>
        </p:nvSpPr>
        <p:spPr>
          <a:xfrm>
            <a:off x="812800" y="2395835"/>
            <a:ext cx="10883392" cy="1787128"/>
          </a:xfrm>
          <a:prstGeom prst="rect">
            <a:avLst/>
          </a:prstGeom>
          <a:noFill/>
          <a:ln/>
        </p:spPr>
        <p:txBody>
          <a:bodyPr wrap="square" lIns="0" tIns="0" rIns="0" bIns="0" rtlCol="0" anchor="t">
            <a:normAutofit/>
          </a:bodyPr>
          <a:lstStyle/>
          <a:p>
            <a:pPr marL="0" indent="0" algn="l">
              <a:lnSpc>
                <a:spcPts val="6936"/>
              </a:lnSpc>
              <a:buNone/>
            </a:pPr>
            <a:r>
              <a:rPr lang="en-US" sz="6800" b="1" i="0" dirty="0">
                <a:solidFill>
                  <a:srgbClr val="F7F5EF"/>
                </a:solidFill>
                <a:latin typeface="IBM Plex Sans" pitchFamily="34" charset="0"/>
                <a:ea typeface="IBM Plex Sans" pitchFamily="34" charset="-122"/>
                <a:cs typeface="IBM Plex Sans" pitchFamily="34" charset="-120"/>
              </a:rPr>
              <a:t>Model Context</a:t>
            </a:r>
            <a:endParaRPr lang="en-US" sz="6800" dirty="0"/>
          </a:p>
          <a:p>
            <a:pPr marL="0" indent="0" algn="l">
              <a:lnSpc>
                <a:spcPts val="6936"/>
              </a:lnSpc>
              <a:buNone/>
            </a:pPr>
            <a:r>
              <a:rPr lang="en-US" sz="6800" b="1" i="0" dirty="0">
                <a:solidFill>
                  <a:srgbClr val="F7F5EF"/>
                </a:solidFill>
                <a:latin typeface="IBM Plex Sans" pitchFamily="34" charset="0"/>
                <a:ea typeface="IBM Plex Sans" pitchFamily="34" charset="-122"/>
                <a:cs typeface="IBM Plex Sans" pitchFamily="34" charset="-120"/>
              </a:rPr>
              <a:t>Protocol (MCP)</a:t>
            </a:r>
            <a:endParaRPr lang="en-US" sz="6800" dirty="0"/>
          </a:p>
        </p:txBody>
      </p:sp>
      <p:sp>
        <p:nvSpPr>
          <p:cNvPr id="7" name="Text 5"/>
          <p:cNvSpPr/>
          <p:nvPr/>
        </p:nvSpPr>
        <p:spPr>
          <a:xfrm>
            <a:off x="812800" y="4360763"/>
            <a:ext cx="10883392"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How AI apps connect to tools, data, and prompts through one open standard</a:t>
            </a:r>
            <a:endParaRPr lang="en-US" sz="2200" dirty="0"/>
          </a:p>
        </p:txBody>
      </p:sp>
      <p:sp>
        <p:nvSpPr>
          <p:cNvPr id="8" name="Text 6"/>
          <p:cNvSpPr/>
          <p:nvPr/>
        </p:nvSpPr>
        <p:spPr>
          <a:xfrm>
            <a:off x="812800" y="5742980"/>
            <a:ext cx="4530328" cy="327620"/>
          </a:xfrm>
          <a:prstGeom prst="rect">
            <a:avLst/>
          </a:prstGeom>
          <a:noFill/>
          <a:ln/>
        </p:spPr>
        <p:txBody>
          <a:bodyPr wrap="square" lIns="0" tIns="0" rIns="0" bIns="0" rtlCol="0" anchor="t">
            <a:normAutofit fontScale="85000" lnSpcReduction="10000"/>
          </a:bodyPr>
          <a:lstStyle/>
          <a:p>
            <a:pPr marL="0" indent="0" algn="l">
              <a:lnSpc>
                <a:spcPts val="2380"/>
              </a:lnSpc>
              <a:buNone/>
            </a:pPr>
            <a:r>
              <a:rPr lang="en-US" sz="1700" b="1" dirty="0">
                <a:solidFill>
                  <a:srgbClr val="F7F5EF"/>
                </a:solidFill>
                <a:latin typeface="IBM Plex Sans" pitchFamily="34" charset="0"/>
                <a:ea typeface="IBM Plex Sans" pitchFamily="34" charset="-122"/>
                <a:cs typeface="IBM Plex Sans" pitchFamily="34" charset="-120"/>
              </a:rPr>
              <a:t>Suvash Shah Thakuri</a:t>
            </a:r>
            <a:r>
              <a:rPr lang="en-US" sz="1700" dirty="0">
                <a:solidFill>
                  <a:srgbClr val="F7F5EF"/>
                </a:solidFill>
                <a:latin typeface="IBM Plex Sans" pitchFamily="34" charset="0"/>
                <a:ea typeface="IBM Plex Sans" pitchFamily="34" charset="-122"/>
                <a:cs typeface="IBM Plex Sans" pitchFamily="34" charset="-120"/>
              </a:rPr>
              <a:t> · North Dakota State University</a:t>
            </a:r>
            <a:endParaRPr lang="en-US" sz="1700" dirty="0"/>
          </a:p>
        </p:txBody>
      </p:sp>
      <p:sp>
        <p:nvSpPr>
          <p:cNvPr id="9" name="Text 7"/>
          <p:cNvSpPr/>
          <p:nvPr/>
        </p:nvSpPr>
        <p:spPr>
          <a:xfrm>
            <a:off x="9321800" y="5778500"/>
            <a:ext cx="2057400" cy="292100"/>
          </a:xfrm>
          <a:prstGeom prst="rect">
            <a:avLst/>
          </a:prstGeom>
          <a:noFill/>
          <a:ln/>
        </p:spPr>
        <p:txBody>
          <a:bodyPr wrap="square" lIns="0" tIns="0" rIns="0" bIns="0" rtlCol="0" anchor="t">
            <a:normAutofit/>
          </a:bodyPr>
          <a:lstStyle/>
          <a:p>
            <a:pPr marL="0" indent="0" algn="r">
              <a:lnSpc>
                <a:spcPts val="2100"/>
              </a:lnSpc>
              <a:buNone/>
            </a:pPr>
            <a:r>
              <a:rPr lang="en-US" sz="1500" dirty="0">
                <a:solidFill>
                  <a:srgbClr val="C9D3E3"/>
                </a:solidFill>
                <a:latin typeface="JetBrains Mono" pitchFamily="49" charset="0"/>
                <a:ea typeface="JetBrains Mono" pitchFamily="49" charset="-122"/>
                <a:cs typeface="JetBrains Mono" pitchFamily="49" charset="-120"/>
              </a:rPr>
              <a:t>Spec 2026-07-28</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PLAN · 30 MINUTES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3953169"/>
        </p:xfrm>
        <a:graphic>
          <a:graphicData uri="http://schemas.openxmlformats.org/drawingml/2006/table">
            <a:tbl>
              <a:tblPr/>
              <a:tblGrid>
                <a:gridCol w="1055370">
                  <a:extLst>
                    <a:ext uri="{9D8B030D-6E8A-4147-A177-3AD203B41FA5}">
                      <a16:colId xmlns:a16="http://schemas.microsoft.com/office/drawing/2014/main" val="20000"/>
                    </a:ext>
                  </a:extLst>
                </a:gridCol>
                <a:gridCol w="7598664">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tblGrid>
              <a:tr h="439241">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Topic</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Min</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1</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Key terms, and why MCP was developed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Host, client, and server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Tools, resources, prompts, templates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5</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Discovery, communication, transport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5</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Authentication and authorization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6</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MCP vs. function calling, REST, RAG</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7</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Recent changes to the standard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43924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8</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Live demo: one resource, two tools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BEFORE WE START</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Words you will hear today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3714750"/>
        </p:xfrm>
        <a:graphic>
          <a:graphicData uri="http://schemas.openxmlformats.org/drawingml/2006/table">
            <a:tbl>
              <a:tblPr/>
              <a:tblGrid>
                <a:gridCol w="2638425">
                  <a:extLst>
                    <a:ext uri="{9D8B030D-6E8A-4147-A177-3AD203B41FA5}">
                      <a16:colId xmlns:a16="http://schemas.microsoft.com/office/drawing/2014/main" val="20000"/>
                    </a:ext>
                  </a:extLst>
                </a:gridCol>
                <a:gridCol w="7915275">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Term</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In plain words</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LLM</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Large language model: the AI that reads and writes text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Context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Everything the model can see when it answers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AI agent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 LLM that takes steps on its own, like searching</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Protocol</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Agreed rules for how two programs talk, like HTTP</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Spec</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written rulebook a protocol is defined in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API</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way for one program to ask another to do something</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JSON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simple text format for data: {"year": 2023}</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 / client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program that offers a service / one that uses it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1 · WHY MCP WAS DEVELOPED</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Every AI app wired every tool by hand</a:t>
            </a:r>
            <a:endParaRPr lang="en-US" sz="3200" dirty="0"/>
          </a:p>
        </p:txBody>
      </p:sp>
      <p:sp>
        <p:nvSpPr>
          <p:cNvPr id="4" name="Shape 2"/>
          <p:cNvSpPr/>
          <p:nvPr/>
        </p:nvSpPr>
        <p:spPr>
          <a:xfrm>
            <a:off x="815975" y="1765796"/>
            <a:ext cx="5149850" cy="2409031"/>
          </a:xfrm>
          <a:prstGeom prst="roundRect">
            <a:avLst>
              <a:gd name="adj" fmla="val 4086"/>
            </a:avLst>
          </a:prstGeom>
          <a:solidFill>
            <a:srgbClr val="FFFEFB"/>
          </a:solidFill>
          <a:ln w="6350">
            <a:solidFill>
              <a:srgbClr val="E2DED3"/>
            </a:solidFill>
            <a:prstDash val="solid"/>
          </a:ln>
        </p:spPr>
        <p:txBody>
          <a:bodyPr/>
          <a:lstStyle/>
          <a:p>
            <a:endParaRPr lang="en-US"/>
          </a:p>
        </p:txBody>
      </p:sp>
      <p:sp>
        <p:nvSpPr>
          <p:cNvPr id="5" name="Text 3"/>
          <p:cNvSpPr/>
          <p:nvPr/>
        </p:nvSpPr>
        <p:spPr>
          <a:xfrm>
            <a:off x="1073150" y="2022971"/>
            <a:ext cx="4774565"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4A5568"/>
                </a:solidFill>
                <a:latin typeface="JetBrains Mono" pitchFamily="49" charset="0"/>
                <a:ea typeface="JetBrains Mono" pitchFamily="49" charset="-122"/>
                <a:cs typeface="JetBrains Mono" pitchFamily="49" charset="-120"/>
              </a:rPr>
              <a:t>BEFORE MCP</a:t>
            </a:r>
            <a:endParaRPr lang="en-US" sz="1400" dirty="0"/>
          </a:p>
        </p:txBody>
      </p:sp>
      <p:sp>
        <p:nvSpPr>
          <p:cNvPr id="6" name="Text 4"/>
          <p:cNvSpPr/>
          <p:nvPr/>
        </p:nvSpPr>
        <p:spPr>
          <a:xfrm>
            <a:off x="1073150" y="2373412"/>
            <a:ext cx="4774565"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14213D"/>
                </a:solidFill>
                <a:latin typeface="IBM Plex Sans" pitchFamily="34" charset="0"/>
                <a:ea typeface="IBM Plex Sans" pitchFamily="34" charset="-122"/>
                <a:cs typeface="IBM Plex Sans" pitchFamily="34" charset="-120"/>
              </a:rPr>
              <a:t>M × N</a:t>
            </a:r>
            <a:endParaRPr lang="en-US" sz="6000" dirty="0"/>
          </a:p>
        </p:txBody>
      </p:sp>
      <p:sp>
        <p:nvSpPr>
          <p:cNvPr id="7" name="Text 5"/>
          <p:cNvSpPr/>
          <p:nvPr/>
        </p:nvSpPr>
        <p:spPr>
          <a:xfrm>
            <a:off x="1073150" y="3313212"/>
            <a:ext cx="4774565"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Each app builds its own connector for each system. 3 apps × 4 systems = </a:t>
            </a:r>
            <a:r>
              <a:rPr lang="en-US" sz="1700" b="1" dirty="0">
                <a:solidFill>
                  <a:srgbClr val="4A5568"/>
                </a:solidFill>
                <a:latin typeface="IBM Plex Sans" pitchFamily="34" charset="0"/>
                <a:ea typeface="IBM Plex Sans" pitchFamily="34" charset="-122"/>
                <a:cs typeface="IBM Plex Sans" pitchFamily="34" charset="-120"/>
              </a:rPr>
              <a:t>12</a:t>
            </a:r>
            <a:r>
              <a:rPr lang="en-US" sz="1700" dirty="0">
                <a:solidFill>
                  <a:srgbClr val="4A5568"/>
                </a:solidFill>
                <a:latin typeface="IBM Plex Sans" pitchFamily="34" charset="0"/>
                <a:ea typeface="IBM Plex Sans" pitchFamily="34" charset="-122"/>
                <a:cs typeface="IBM Plex Sans" pitchFamily="34" charset="-120"/>
              </a:rPr>
              <a:t> integrations.</a:t>
            </a:r>
            <a:endParaRPr lang="en-US" sz="1700" dirty="0"/>
          </a:p>
        </p:txBody>
      </p:sp>
      <p:sp>
        <p:nvSpPr>
          <p:cNvPr id="8" name="Shape 6"/>
          <p:cNvSpPr/>
          <p:nvPr/>
        </p:nvSpPr>
        <p:spPr>
          <a:xfrm>
            <a:off x="6226175" y="1765796"/>
            <a:ext cx="5149850" cy="2409031"/>
          </a:xfrm>
          <a:prstGeom prst="roundRect">
            <a:avLst>
              <a:gd name="adj" fmla="val 4086"/>
            </a:avLst>
          </a:prstGeom>
          <a:solidFill>
            <a:srgbClr val="FFFEFB"/>
          </a:solidFill>
          <a:ln w="6350">
            <a:solidFill>
              <a:srgbClr val="E2DED3"/>
            </a:solidFill>
            <a:prstDash val="solid"/>
          </a:ln>
        </p:spPr>
        <p:txBody>
          <a:bodyPr/>
          <a:lstStyle/>
          <a:p>
            <a:endParaRPr lang="en-US"/>
          </a:p>
        </p:txBody>
      </p:sp>
      <p:sp>
        <p:nvSpPr>
          <p:cNvPr id="9" name="Text 7"/>
          <p:cNvSpPr/>
          <p:nvPr/>
        </p:nvSpPr>
        <p:spPr>
          <a:xfrm>
            <a:off x="6483350" y="2022971"/>
            <a:ext cx="4774565"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563C9"/>
                </a:solidFill>
                <a:latin typeface="JetBrains Mono" pitchFamily="49" charset="0"/>
                <a:ea typeface="JetBrains Mono" pitchFamily="49" charset="-122"/>
                <a:cs typeface="JetBrains Mono" pitchFamily="49" charset="-120"/>
              </a:rPr>
              <a:t>WITH MCP</a:t>
            </a:r>
            <a:endParaRPr lang="en-US" sz="1400" dirty="0"/>
          </a:p>
        </p:txBody>
      </p:sp>
      <p:sp>
        <p:nvSpPr>
          <p:cNvPr id="10" name="Text 8"/>
          <p:cNvSpPr/>
          <p:nvPr/>
        </p:nvSpPr>
        <p:spPr>
          <a:xfrm>
            <a:off x="6483350" y="2373412"/>
            <a:ext cx="4774565"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2563C9"/>
                </a:solidFill>
                <a:latin typeface="IBM Plex Sans" pitchFamily="34" charset="0"/>
                <a:ea typeface="IBM Plex Sans" pitchFamily="34" charset="-122"/>
                <a:cs typeface="IBM Plex Sans" pitchFamily="34" charset="-120"/>
              </a:rPr>
              <a:t>M + N</a:t>
            </a:r>
            <a:endParaRPr lang="en-US" sz="6000" dirty="0"/>
          </a:p>
        </p:txBody>
      </p:sp>
      <p:sp>
        <p:nvSpPr>
          <p:cNvPr id="11" name="Text 9"/>
          <p:cNvSpPr/>
          <p:nvPr/>
        </p:nvSpPr>
        <p:spPr>
          <a:xfrm>
            <a:off x="6483350" y="3313212"/>
            <a:ext cx="4774565"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Each app builds one client. Each system ships one server. 3 + 4 = </a:t>
            </a:r>
            <a:r>
              <a:rPr lang="en-US" sz="1700" b="1" dirty="0">
                <a:solidFill>
                  <a:srgbClr val="4A5568"/>
                </a:solidFill>
                <a:latin typeface="IBM Plex Sans" pitchFamily="34" charset="0"/>
                <a:ea typeface="IBM Plex Sans" pitchFamily="34" charset="-122"/>
                <a:cs typeface="IBM Plex Sans" pitchFamily="34" charset="-120"/>
              </a:rPr>
              <a:t>7</a:t>
            </a:r>
            <a:r>
              <a:rPr lang="en-US" sz="1700" dirty="0">
                <a:solidFill>
                  <a:srgbClr val="4A5568"/>
                </a:solidFill>
                <a:latin typeface="IBM Plex Sans" pitchFamily="34" charset="0"/>
                <a:ea typeface="IBM Plex Sans" pitchFamily="34" charset="-122"/>
                <a:cs typeface="IBM Plex Sans" pitchFamily="34" charset="-120"/>
              </a:rPr>
              <a:t> pieces.</a:t>
            </a:r>
            <a:endParaRPr lang="en-US" sz="1700" dirty="0"/>
          </a:p>
        </p:txBody>
      </p:sp>
      <p:sp>
        <p:nvSpPr>
          <p:cNvPr id="12" name="Shape 10"/>
          <p:cNvSpPr/>
          <p:nvPr/>
        </p:nvSpPr>
        <p:spPr>
          <a:xfrm>
            <a:off x="812800" y="4432002"/>
            <a:ext cx="10566400" cy="787400"/>
          </a:xfrm>
          <a:prstGeom prst="roundRect">
            <a:avLst>
              <a:gd name="adj" fmla="val 9677"/>
            </a:avLst>
          </a:prstGeom>
          <a:solidFill>
            <a:srgbClr val="EFECE4"/>
          </a:solidFill>
          <a:ln/>
        </p:spPr>
        <p:txBody>
          <a:bodyPr/>
          <a:lstStyle/>
          <a:p>
            <a:endParaRPr lang="en-US"/>
          </a:p>
        </p:txBody>
      </p:sp>
      <p:pic>
        <p:nvPicPr>
          <p:cNvPr id="13" name="Image 0" descr="Book"/>
          <p:cNvPicPr>
            <a:picLocks noChangeAspect="1"/>
          </p:cNvPicPr>
          <p:nvPr/>
        </p:nvPicPr>
        <p:blipFill>
          <a:blip r:embed="rId3"/>
          <a:srcRect/>
          <a:stretch/>
        </p:blipFill>
        <p:spPr>
          <a:xfrm>
            <a:off x="990600" y="4559002"/>
            <a:ext cx="254000" cy="254000"/>
          </a:xfrm>
          <a:prstGeom prst="rect">
            <a:avLst/>
          </a:prstGeom>
        </p:spPr>
      </p:pic>
      <p:sp>
        <p:nvSpPr>
          <p:cNvPr id="14" name="Text 11"/>
          <p:cNvSpPr/>
          <p:nvPr/>
        </p:nvSpPr>
        <p:spPr>
          <a:xfrm>
            <a:off x="1397000" y="4559002"/>
            <a:ext cx="6836253"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Integration</a:t>
            </a:r>
            <a:r>
              <a:rPr lang="en-US" sz="1500" dirty="0">
                <a:solidFill>
                  <a:srgbClr val="14213D"/>
                </a:solidFill>
                <a:latin typeface="IBM Plex Sans" pitchFamily="34" charset="0"/>
                <a:ea typeface="IBM Plex Sans" pitchFamily="34" charset="-122"/>
                <a:cs typeface="IBM Plex Sans" pitchFamily="34" charset="-120"/>
              </a:rPr>
              <a:t> = custom code that connects one app to one other system.</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LSP</a:t>
            </a:r>
            <a:r>
              <a:rPr lang="en-US" sz="1500" dirty="0">
                <a:solidFill>
                  <a:srgbClr val="14213D"/>
                </a:solidFill>
                <a:latin typeface="IBM Plex Sans" pitchFamily="34" charset="0"/>
                <a:ea typeface="IBM Plex Sans" pitchFamily="34" charset="-122"/>
                <a:cs typeface="IBM Plex Sans" pitchFamily="34" charset="-120"/>
              </a:rPr>
              <a:t> = one standard that gives any code editor autocomplete for any language.</a:t>
            </a:r>
            <a:endParaRPr lang="en-US" sz="1500" dirty="0"/>
          </a:p>
        </p:txBody>
      </p:sp>
      <p:sp>
        <p:nvSpPr>
          <p:cNvPr id="15" name="Text 12"/>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1 · WHY MCP WAS DEVELOPED</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From one company's idea to an open standard</a:t>
            </a:r>
            <a:endParaRPr lang="en-US" sz="3200" dirty="0"/>
          </a:p>
        </p:txBody>
      </p:sp>
      <p:sp>
        <p:nvSpPr>
          <p:cNvPr id="4" name="Shape 2"/>
          <p:cNvSpPr/>
          <p:nvPr/>
        </p:nvSpPr>
        <p:spPr>
          <a:xfrm>
            <a:off x="812800" y="1832471"/>
            <a:ext cx="2489200" cy="0"/>
          </a:xfrm>
          <a:prstGeom prst="line">
            <a:avLst/>
          </a:prstGeom>
          <a:noFill/>
          <a:ln w="38100">
            <a:solidFill>
              <a:srgbClr val="2563C9"/>
            </a:solidFill>
            <a:prstDash val="solid"/>
          </a:ln>
        </p:spPr>
        <p:txBody>
          <a:bodyPr/>
          <a:lstStyle/>
          <a:p>
            <a:endParaRPr lang="en-US"/>
          </a:p>
        </p:txBody>
      </p:sp>
      <p:sp>
        <p:nvSpPr>
          <p:cNvPr id="5" name="Text 3"/>
          <p:cNvSpPr/>
          <p:nvPr/>
        </p:nvSpPr>
        <p:spPr>
          <a:xfrm>
            <a:off x="812800" y="2029321"/>
            <a:ext cx="25638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JetBrains Mono" pitchFamily="49" charset="0"/>
                <a:ea typeface="JetBrains Mono" pitchFamily="49" charset="-122"/>
                <a:cs typeface="JetBrains Mono" pitchFamily="49" charset="-120"/>
              </a:rPr>
              <a:t>Nov 2024</a:t>
            </a:r>
            <a:endParaRPr lang="en-US" sz="1600" dirty="0"/>
          </a:p>
        </p:txBody>
      </p:sp>
      <p:sp>
        <p:nvSpPr>
          <p:cNvPr id="6" name="Text 4"/>
          <p:cNvSpPr/>
          <p:nvPr/>
        </p:nvSpPr>
        <p:spPr>
          <a:xfrm>
            <a:off x="812800" y="2415381"/>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Anthropic open-sources MCP</a:t>
            </a:r>
            <a:endParaRPr lang="en-US" sz="1600" dirty="0"/>
          </a:p>
        </p:txBody>
      </p:sp>
      <p:sp>
        <p:nvSpPr>
          <p:cNvPr id="7" name="Shape 5"/>
          <p:cNvSpPr/>
          <p:nvPr/>
        </p:nvSpPr>
        <p:spPr>
          <a:xfrm>
            <a:off x="3505200" y="1832471"/>
            <a:ext cx="2489200" cy="0"/>
          </a:xfrm>
          <a:prstGeom prst="line">
            <a:avLst/>
          </a:prstGeom>
          <a:noFill/>
          <a:ln w="38100">
            <a:solidFill>
              <a:srgbClr val="2563C9"/>
            </a:solidFill>
            <a:prstDash val="solid"/>
          </a:ln>
        </p:spPr>
        <p:txBody>
          <a:bodyPr/>
          <a:lstStyle/>
          <a:p>
            <a:endParaRPr lang="en-US"/>
          </a:p>
        </p:txBody>
      </p:sp>
      <p:sp>
        <p:nvSpPr>
          <p:cNvPr id="8" name="Text 6"/>
          <p:cNvSpPr/>
          <p:nvPr/>
        </p:nvSpPr>
        <p:spPr>
          <a:xfrm>
            <a:off x="3505200" y="2029321"/>
            <a:ext cx="25638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JetBrains Mono" pitchFamily="49" charset="0"/>
                <a:ea typeface="JetBrains Mono" pitchFamily="49" charset="-122"/>
                <a:cs typeface="JetBrains Mono" pitchFamily="49" charset="-120"/>
              </a:rPr>
              <a:t>2025</a:t>
            </a:r>
            <a:endParaRPr lang="en-US" sz="1600" dirty="0"/>
          </a:p>
        </p:txBody>
      </p:sp>
      <p:sp>
        <p:nvSpPr>
          <p:cNvPr id="9" name="Text 7"/>
          <p:cNvSpPr/>
          <p:nvPr/>
        </p:nvSpPr>
        <p:spPr>
          <a:xfrm>
            <a:off x="3505200" y="2415381"/>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ChatGPT, VS Code, Cursor, and others adopt it</a:t>
            </a:r>
            <a:endParaRPr lang="en-US" sz="1600" dirty="0"/>
          </a:p>
        </p:txBody>
      </p:sp>
      <p:sp>
        <p:nvSpPr>
          <p:cNvPr id="10" name="Shape 8"/>
          <p:cNvSpPr/>
          <p:nvPr/>
        </p:nvSpPr>
        <p:spPr>
          <a:xfrm>
            <a:off x="6197600" y="1832471"/>
            <a:ext cx="2489200" cy="0"/>
          </a:xfrm>
          <a:prstGeom prst="line">
            <a:avLst/>
          </a:prstGeom>
          <a:noFill/>
          <a:ln w="38100">
            <a:solidFill>
              <a:srgbClr val="2563C9"/>
            </a:solidFill>
            <a:prstDash val="solid"/>
          </a:ln>
        </p:spPr>
        <p:txBody>
          <a:bodyPr/>
          <a:lstStyle/>
          <a:p>
            <a:endParaRPr lang="en-US"/>
          </a:p>
        </p:txBody>
      </p:sp>
      <p:sp>
        <p:nvSpPr>
          <p:cNvPr id="11" name="Text 9"/>
          <p:cNvSpPr/>
          <p:nvPr/>
        </p:nvSpPr>
        <p:spPr>
          <a:xfrm>
            <a:off x="6197600" y="2029321"/>
            <a:ext cx="25638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JetBrains Mono" pitchFamily="49" charset="0"/>
                <a:ea typeface="JetBrains Mono" pitchFamily="49" charset="-122"/>
                <a:cs typeface="JetBrains Mono" pitchFamily="49" charset="-120"/>
              </a:rPr>
              <a:t>Dec 2025</a:t>
            </a:r>
            <a:endParaRPr lang="en-US" sz="1600" dirty="0"/>
          </a:p>
        </p:txBody>
      </p:sp>
      <p:sp>
        <p:nvSpPr>
          <p:cNvPr id="12" name="Text 10"/>
          <p:cNvSpPr/>
          <p:nvPr/>
        </p:nvSpPr>
        <p:spPr>
          <a:xfrm>
            <a:off x="6197600" y="2415381"/>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Donated to the Linux Foundation</a:t>
            </a:r>
            <a:endParaRPr lang="en-US" sz="1600" dirty="0"/>
          </a:p>
        </p:txBody>
      </p:sp>
      <p:sp>
        <p:nvSpPr>
          <p:cNvPr id="13" name="Shape 11"/>
          <p:cNvSpPr/>
          <p:nvPr/>
        </p:nvSpPr>
        <p:spPr>
          <a:xfrm>
            <a:off x="8890000" y="1832471"/>
            <a:ext cx="2489200" cy="0"/>
          </a:xfrm>
          <a:prstGeom prst="line">
            <a:avLst/>
          </a:prstGeom>
          <a:noFill/>
          <a:ln w="38100">
            <a:solidFill>
              <a:srgbClr val="C25A12"/>
            </a:solidFill>
            <a:prstDash val="solid"/>
          </a:ln>
        </p:spPr>
        <p:txBody>
          <a:bodyPr/>
          <a:lstStyle/>
          <a:p>
            <a:endParaRPr lang="en-US"/>
          </a:p>
        </p:txBody>
      </p:sp>
      <p:sp>
        <p:nvSpPr>
          <p:cNvPr id="14" name="Text 12"/>
          <p:cNvSpPr/>
          <p:nvPr/>
        </p:nvSpPr>
        <p:spPr>
          <a:xfrm>
            <a:off x="8890000" y="2029321"/>
            <a:ext cx="25638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C25A12"/>
                </a:solidFill>
                <a:latin typeface="JetBrains Mono" pitchFamily="49" charset="0"/>
                <a:ea typeface="JetBrains Mono" pitchFamily="49" charset="-122"/>
                <a:cs typeface="JetBrains Mono" pitchFamily="49" charset="-120"/>
              </a:rPr>
              <a:t>Jul 2026</a:t>
            </a:r>
            <a:endParaRPr lang="en-US" sz="1600" dirty="0"/>
          </a:p>
        </p:txBody>
      </p:sp>
      <p:sp>
        <p:nvSpPr>
          <p:cNvPr id="15" name="Text 13"/>
          <p:cNvSpPr/>
          <p:nvPr/>
        </p:nvSpPr>
        <p:spPr>
          <a:xfrm>
            <a:off x="8890000" y="2415381"/>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Stateless redesign of the spec</a:t>
            </a:r>
            <a:endParaRPr lang="en-US" sz="1600" dirty="0"/>
          </a:p>
        </p:txBody>
      </p:sp>
      <p:sp>
        <p:nvSpPr>
          <p:cNvPr id="16" name="Text 14"/>
          <p:cNvSpPr/>
          <p:nvPr/>
        </p:nvSpPr>
        <p:spPr>
          <a:xfrm>
            <a:off x="815975" y="3292277"/>
            <a:ext cx="10560050" cy="732730"/>
          </a:xfrm>
          <a:prstGeom prst="roundRect">
            <a:avLst>
              <a:gd name="adj" fmla="val 13433"/>
            </a:avLst>
          </a:prstGeom>
          <a:solidFill>
            <a:srgbClr val="FFFEFB"/>
          </a:solidFill>
          <a:ln w="6350">
            <a:solidFill>
              <a:srgbClr val="E2DED3"/>
            </a:solidFill>
            <a:prstDash val="solid"/>
          </a:ln>
        </p:spPr>
        <p:txBody>
          <a:bodyPr wrap="square" lIns="228347" tIns="177547" rIns="0" bIns="152147" rtlCol="0" anchor="t">
            <a:normAutofit/>
          </a:bodyPr>
          <a:lstStyle/>
          <a:p>
            <a:pPr marL="0" indent="0" algn="l">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The goal:</a:t>
            </a:r>
            <a:r>
              <a:rPr lang="en-US" sz="1800" dirty="0">
                <a:solidFill>
                  <a:srgbClr val="14213D"/>
                </a:solidFill>
                <a:latin typeface="IBM Plex Sans" pitchFamily="34" charset="0"/>
                <a:ea typeface="IBM Plex Sans" pitchFamily="34" charset="-122"/>
                <a:cs typeface="IBM Plex Sans" pitchFamily="34" charset="-120"/>
              </a:rPr>
              <a:t> one open, vendor-neutral way to give models the context they need.</a:t>
            </a:r>
            <a:endParaRPr lang="en-US" sz="1800" dirty="0"/>
          </a:p>
        </p:txBody>
      </p:sp>
      <p:sp>
        <p:nvSpPr>
          <p:cNvPr id="17" name="Shape 15"/>
          <p:cNvSpPr/>
          <p:nvPr/>
        </p:nvSpPr>
        <p:spPr>
          <a:xfrm>
            <a:off x="812800" y="4332982"/>
            <a:ext cx="10566400" cy="787400"/>
          </a:xfrm>
          <a:prstGeom prst="roundRect">
            <a:avLst>
              <a:gd name="adj" fmla="val 9677"/>
            </a:avLst>
          </a:prstGeom>
          <a:solidFill>
            <a:srgbClr val="EFECE4"/>
          </a:solidFill>
          <a:ln/>
        </p:spPr>
        <p:txBody>
          <a:bodyPr/>
          <a:lstStyle/>
          <a:p>
            <a:endParaRPr lang="en-US"/>
          </a:p>
        </p:txBody>
      </p:sp>
      <p:pic>
        <p:nvPicPr>
          <p:cNvPr id="18" name="Image 0" descr="Book"/>
          <p:cNvPicPr>
            <a:picLocks noChangeAspect="1"/>
          </p:cNvPicPr>
          <p:nvPr/>
        </p:nvPicPr>
        <p:blipFill>
          <a:blip r:embed="rId3"/>
          <a:srcRect/>
          <a:stretch/>
        </p:blipFill>
        <p:spPr>
          <a:xfrm>
            <a:off x="990600" y="4459982"/>
            <a:ext cx="254000" cy="254000"/>
          </a:xfrm>
          <a:prstGeom prst="rect">
            <a:avLst/>
          </a:prstGeom>
        </p:spPr>
      </p:pic>
      <p:sp>
        <p:nvSpPr>
          <p:cNvPr id="19" name="Text 16"/>
          <p:cNvSpPr/>
          <p:nvPr/>
        </p:nvSpPr>
        <p:spPr>
          <a:xfrm>
            <a:off x="1397000" y="4459982"/>
            <a:ext cx="5953388"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Open source</a:t>
            </a:r>
            <a:r>
              <a:rPr lang="en-US" sz="1500" dirty="0">
                <a:solidFill>
                  <a:srgbClr val="14213D"/>
                </a:solidFill>
                <a:latin typeface="IBM Plex Sans" pitchFamily="34" charset="0"/>
                <a:ea typeface="IBM Plex Sans" pitchFamily="34" charset="-122"/>
                <a:cs typeface="IBM Plex Sans" pitchFamily="34" charset="-120"/>
              </a:rPr>
              <a:t> = anyone can read, use, and improve the code for free.</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Vendor-neutral</a:t>
            </a:r>
            <a:r>
              <a:rPr lang="en-US" sz="1500" dirty="0">
                <a:solidFill>
                  <a:srgbClr val="14213D"/>
                </a:solidFill>
                <a:latin typeface="IBM Plex Sans" pitchFamily="34" charset="0"/>
                <a:ea typeface="IBM Plex Sans" pitchFamily="34" charset="-122"/>
                <a:cs typeface="IBM Plex Sans" pitchFamily="34" charset="-120"/>
              </a:rPr>
              <a:t> = no single company owns or controls it.</a:t>
            </a:r>
            <a:endParaRPr lang="en-US" sz="1500" dirty="0"/>
          </a:p>
        </p:txBody>
      </p:sp>
      <p:sp>
        <p:nvSpPr>
          <p:cNvPr id="20" name="Text 17"/>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2 · ARCHITECTURE</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Host, client, and server</a:t>
            </a:r>
            <a:endParaRPr lang="en-US" sz="3200" dirty="0"/>
          </a:p>
        </p:txBody>
      </p:sp>
      <p:sp>
        <p:nvSpPr>
          <p:cNvPr id="4" name="Shape 2"/>
          <p:cNvSpPr/>
          <p:nvPr/>
        </p:nvSpPr>
        <p:spPr>
          <a:xfrm>
            <a:off x="819150" y="1847850"/>
            <a:ext cx="4940300" cy="3924300"/>
          </a:xfrm>
          <a:prstGeom prst="roundRect">
            <a:avLst>
              <a:gd name="adj" fmla="val 3074"/>
            </a:avLst>
          </a:prstGeom>
          <a:solidFill>
            <a:srgbClr val="FFFEFB"/>
          </a:solidFill>
          <a:ln w="12700">
            <a:solidFill>
              <a:srgbClr val="14213D"/>
            </a:solidFill>
            <a:prstDash val="solid"/>
          </a:ln>
        </p:spPr>
        <p:txBody>
          <a:bodyPr/>
          <a:lstStyle/>
          <a:p>
            <a:endParaRPr lang="en-US"/>
          </a:p>
        </p:txBody>
      </p:sp>
      <p:sp>
        <p:nvSpPr>
          <p:cNvPr id="5" name="Text 3"/>
          <p:cNvSpPr/>
          <p:nvPr/>
        </p:nvSpPr>
        <p:spPr>
          <a:xfrm>
            <a:off x="1066800" y="1981200"/>
            <a:ext cx="4709160"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MCP HOST · the AI app</a:t>
            </a:r>
            <a:endParaRPr lang="en-US" sz="1700" dirty="0"/>
          </a:p>
        </p:txBody>
      </p:sp>
      <p:sp>
        <p:nvSpPr>
          <p:cNvPr id="6" name="Text 4"/>
          <p:cNvSpPr/>
          <p:nvPr/>
        </p:nvSpPr>
        <p:spPr>
          <a:xfrm>
            <a:off x="1066800" y="2298700"/>
            <a:ext cx="47091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e.g. Claude, VS Code, Cursor</a:t>
            </a:r>
            <a:endParaRPr lang="en-US" sz="1400" dirty="0"/>
          </a:p>
        </p:txBody>
      </p:sp>
      <p:sp>
        <p:nvSpPr>
          <p:cNvPr id="7" name="Shape 5"/>
          <p:cNvSpPr/>
          <p:nvPr/>
        </p:nvSpPr>
        <p:spPr>
          <a:xfrm>
            <a:off x="1066800" y="2730500"/>
            <a:ext cx="1587500" cy="2730500"/>
          </a:xfrm>
          <a:prstGeom prst="roundRect">
            <a:avLst>
              <a:gd name="adj" fmla="val 5600"/>
            </a:avLst>
          </a:prstGeom>
          <a:solidFill>
            <a:srgbClr val="EDEAE1"/>
          </a:solidFill>
          <a:ln/>
        </p:spPr>
        <p:txBody>
          <a:bodyPr/>
          <a:lstStyle/>
          <a:p>
            <a:endParaRPr lang="en-US"/>
          </a:p>
        </p:txBody>
      </p:sp>
      <p:sp>
        <p:nvSpPr>
          <p:cNvPr id="8" name="Text 6"/>
          <p:cNvSpPr/>
          <p:nvPr/>
        </p:nvSpPr>
        <p:spPr>
          <a:xfrm>
            <a:off x="1219200" y="3622080"/>
            <a:ext cx="13335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LLM</a:t>
            </a:r>
            <a:endParaRPr lang="en-US" sz="2200" dirty="0"/>
          </a:p>
        </p:txBody>
      </p:sp>
      <p:sp>
        <p:nvSpPr>
          <p:cNvPr id="9" name="Text 7"/>
          <p:cNvSpPr/>
          <p:nvPr/>
        </p:nvSpPr>
        <p:spPr>
          <a:xfrm>
            <a:off x="1219200" y="4089400"/>
            <a:ext cx="133350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picks tools, reads results</a:t>
            </a:r>
            <a:endParaRPr lang="en-US" sz="1400" dirty="0"/>
          </a:p>
        </p:txBody>
      </p:sp>
      <p:sp>
        <p:nvSpPr>
          <p:cNvPr id="10" name="Text 8"/>
          <p:cNvSpPr/>
          <p:nvPr/>
        </p:nvSpPr>
        <p:spPr>
          <a:xfrm>
            <a:off x="2851150" y="2736850"/>
            <a:ext cx="2654300" cy="685800"/>
          </a:xfrm>
          <a:prstGeom prst="roundRect">
            <a:avLst>
              <a:gd name="adj" fmla="val 12037"/>
            </a:avLst>
          </a:prstGeom>
          <a:solidFill>
            <a:srgbClr val="E8EFFB"/>
          </a:solidFill>
          <a:ln w="12700">
            <a:solidFill>
              <a:srgbClr val="2563C9"/>
            </a:solidFill>
            <a:prstDash val="solid"/>
          </a:ln>
        </p:spPr>
        <p:txBody>
          <a:bodyPr wrap="square" lIns="134572" tIns="83772" rIns="64468" bIns="83772" rtlCol="0" anchor="ctr">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MCP Client 1</a:t>
            </a:r>
            <a:endParaRPr lang="en-US" sz="1600" dirty="0"/>
          </a:p>
        </p:txBody>
      </p:sp>
      <p:sp>
        <p:nvSpPr>
          <p:cNvPr id="11" name="Text 9"/>
          <p:cNvSpPr/>
          <p:nvPr/>
        </p:nvSpPr>
        <p:spPr>
          <a:xfrm>
            <a:off x="2851150" y="3752850"/>
            <a:ext cx="2654300" cy="685800"/>
          </a:xfrm>
          <a:prstGeom prst="roundRect">
            <a:avLst>
              <a:gd name="adj" fmla="val 12037"/>
            </a:avLst>
          </a:prstGeom>
          <a:solidFill>
            <a:srgbClr val="E8EFFB"/>
          </a:solidFill>
          <a:ln w="12700">
            <a:solidFill>
              <a:srgbClr val="2563C9"/>
            </a:solidFill>
            <a:prstDash val="solid"/>
          </a:ln>
        </p:spPr>
        <p:txBody>
          <a:bodyPr wrap="square" lIns="134572" tIns="83772" rIns="64468" bIns="83772" rtlCol="0" anchor="ctr">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MCP Client 2</a:t>
            </a:r>
            <a:endParaRPr lang="en-US" sz="1600" dirty="0"/>
          </a:p>
        </p:txBody>
      </p:sp>
      <p:sp>
        <p:nvSpPr>
          <p:cNvPr id="12" name="Text 10"/>
          <p:cNvSpPr/>
          <p:nvPr/>
        </p:nvSpPr>
        <p:spPr>
          <a:xfrm>
            <a:off x="2851150" y="4768850"/>
            <a:ext cx="2654300" cy="685800"/>
          </a:xfrm>
          <a:prstGeom prst="roundRect">
            <a:avLst>
              <a:gd name="adj" fmla="val 12037"/>
            </a:avLst>
          </a:prstGeom>
          <a:solidFill>
            <a:srgbClr val="E8EFFB"/>
          </a:solidFill>
          <a:ln w="12700">
            <a:solidFill>
              <a:srgbClr val="2563C9"/>
            </a:solidFill>
            <a:prstDash val="solid"/>
          </a:ln>
        </p:spPr>
        <p:txBody>
          <a:bodyPr wrap="square" lIns="134572" tIns="83772" rIns="64468" bIns="83772" rtlCol="0" anchor="ctr">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MCP Client 3</a:t>
            </a:r>
            <a:endParaRPr lang="en-US" sz="1600" dirty="0"/>
          </a:p>
        </p:txBody>
      </p:sp>
      <p:sp>
        <p:nvSpPr>
          <p:cNvPr id="13" name="Text 11"/>
          <p:cNvSpPr/>
          <p:nvPr/>
        </p:nvSpPr>
        <p:spPr>
          <a:xfrm>
            <a:off x="5731129" y="2362200"/>
            <a:ext cx="2380742" cy="27424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IBM Plex Sans" pitchFamily="34" charset="0"/>
                <a:ea typeface="IBM Plex Sans" pitchFamily="34" charset="-122"/>
                <a:cs typeface="IBM Plex Sans" pitchFamily="34" charset="-120"/>
              </a:rPr>
              <a:t>1 client per server</a:t>
            </a:r>
            <a:endParaRPr lang="en-US" sz="1400" dirty="0"/>
          </a:p>
        </p:txBody>
      </p:sp>
      <p:pic>
        <p:nvPicPr>
          <p:cNvPr id="14" name="Image 0" descr="connector"/>
          <p:cNvPicPr>
            <a:picLocks noChangeAspect="1"/>
          </p:cNvPicPr>
          <p:nvPr/>
        </p:nvPicPr>
        <p:blipFill>
          <a:blip r:embed="rId3"/>
          <a:srcRect/>
          <a:stretch/>
        </p:blipFill>
        <p:spPr>
          <a:xfrm>
            <a:off x="5461000" y="3028950"/>
            <a:ext cx="2667000" cy="101600"/>
          </a:xfrm>
          <a:prstGeom prst="rect">
            <a:avLst/>
          </a:prstGeom>
        </p:spPr>
      </p:pic>
      <p:pic>
        <p:nvPicPr>
          <p:cNvPr id="15" name="Image 1" descr="connector"/>
          <p:cNvPicPr>
            <a:picLocks noChangeAspect="1"/>
          </p:cNvPicPr>
          <p:nvPr/>
        </p:nvPicPr>
        <p:blipFill>
          <a:blip r:embed="rId3"/>
          <a:srcRect/>
          <a:stretch/>
        </p:blipFill>
        <p:spPr>
          <a:xfrm>
            <a:off x="5461000" y="4044950"/>
            <a:ext cx="2667000" cy="101600"/>
          </a:xfrm>
          <a:prstGeom prst="rect">
            <a:avLst/>
          </a:prstGeom>
        </p:spPr>
      </p:pic>
      <p:pic>
        <p:nvPicPr>
          <p:cNvPr id="16" name="Image 2" descr="connector"/>
          <p:cNvPicPr>
            <a:picLocks noChangeAspect="1"/>
          </p:cNvPicPr>
          <p:nvPr/>
        </p:nvPicPr>
        <p:blipFill>
          <a:blip r:embed="rId4"/>
          <a:srcRect/>
          <a:stretch/>
        </p:blipFill>
        <p:spPr>
          <a:xfrm>
            <a:off x="5461000" y="5060950"/>
            <a:ext cx="2667000" cy="101600"/>
          </a:xfrm>
          <a:prstGeom prst="rect">
            <a:avLst/>
          </a:prstGeom>
        </p:spPr>
      </p:pic>
      <p:sp>
        <p:nvSpPr>
          <p:cNvPr id="17" name="Shape 12"/>
          <p:cNvSpPr/>
          <p:nvPr/>
        </p:nvSpPr>
        <p:spPr>
          <a:xfrm>
            <a:off x="8083550" y="2736850"/>
            <a:ext cx="3289300" cy="685800"/>
          </a:xfrm>
          <a:prstGeom prst="roundRect">
            <a:avLst>
              <a:gd name="adj" fmla="val 12037"/>
            </a:avLst>
          </a:prstGeom>
          <a:solidFill>
            <a:srgbClr val="FDF1E6"/>
          </a:solidFill>
          <a:ln w="12700">
            <a:solidFill>
              <a:srgbClr val="C25A12"/>
            </a:solidFill>
            <a:prstDash val="solid"/>
          </a:ln>
        </p:spPr>
        <p:txBody>
          <a:bodyPr/>
          <a:lstStyle/>
          <a:p>
            <a:endParaRPr lang="en-US"/>
          </a:p>
        </p:txBody>
      </p:sp>
      <p:sp>
        <p:nvSpPr>
          <p:cNvPr id="18" name="Text 13"/>
          <p:cNvSpPr/>
          <p:nvPr/>
        </p:nvSpPr>
        <p:spPr>
          <a:xfrm>
            <a:off x="8242300" y="2819400"/>
            <a:ext cx="3060954" cy="296366"/>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4213D"/>
                </a:solidFill>
                <a:latin typeface="IBM Plex Sans" pitchFamily="34" charset="0"/>
                <a:ea typeface="IBM Plex Sans" pitchFamily="34" charset="-122"/>
                <a:cs typeface="IBM Plex Sans" pitchFamily="34" charset="-120"/>
              </a:rPr>
              <a:t>Server A · Files</a:t>
            </a:r>
            <a:endParaRPr lang="en-US" sz="1550" dirty="0"/>
          </a:p>
        </p:txBody>
      </p:sp>
      <p:sp>
        <p:nvSpPr>
          <p:cNvPr id="19" name="Text 14"/>
          <p:cNvSpPr/>
          <p:nvPr/>
        </p:nvSpPr>
        <p:spPr>
          <a:xfrm>
            <a:off x="8242300" y="3103066"/>
            <a:ext cx="3060954" cy="262434"/>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4A5568"/>
                </a:solidFill>
                <a:latin typeface="IBM Plex Sans" pitchFamily="34" charset="0"/>
                <a:ea typeface="IBM Plex Sans" pitchFamily="34" charset="-122"/>
                <a:cs typeface="IBM Plex Sans" pitchFamily="34" charset="-120"/>
              </a:rPr>
              <a:t>local · stdio</a:t>
            </a:r>
            <a:endParaRPr lang="en-US" sz="1339" dirty="0"/>
          </a:p>
        </p:txBody>
      </p:sp>
      <p:sp>
        <p:nvSpPr>
          <p:cNvPr id="20" name="Shape 15"/>
          <p:cNvSpPr/>
          <p:nvPr/>
        </p:nvSpPr>
        <p:spPr>
          <a:xfrm>
            <a:off x="8083550" y="3752850"/>
            <a:ext cx="3289300" cy="685800"/>
          </a:xfrm>
          <a:prstGeom prst="roundRect">
            <a:avLst>
              <a:gd name="adj" fmla="val 12037"/>
            </a:avLst>
          </a:prstGeom>
          <a:solidFill>
            <a:srgbClr val="FDF1E6"/>
          </a:solidFill>
          <a:ln w="12700">
            <a:solidFill>
              <a:srgbClr val="C25A12"/>
            </a:solidFill>
            <a:prstDash val="solid"/>
          </a:ln>
        </p:spPr>
        <p:txBody>
          <a:bodyPr/>
          <a:lstStyle/>
          <a:p>
            <a:endParaRPr lang="en-US"/>
          </a:p>
        </p:txBody>
      </p:sp>
      <p:sp>
        <p:nvSpPr>
          <p:cNvPr id="21" name="Text 16"/>
          <p:cNvSpPr/>
          <p:nvPr/>
        </p:nvSpPr>
        <p:spPr>
          <a:xfrm>
            <a:off x="8242300" y="3835400"/>
            <a:ext cx="3060954" cy="296366"/>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4213D"/>
                </a:solidFill>
                <a:latin typeface="IBM Plex Sans" pitchFamily="34" charset="0"/>
                <a:ea typeface="IBM Plex Sans" pitchFamily="34" charset="-122"/>
                <a:cs typeface="IBM Plex Sans" pitchFamily="34" charset="-120"/>
              </a:rPr>
              <a:t>Server B · Database</a:t>
            </a:r>
            <a:endParaRPr lang="en-US" sz="1550" dirty="0"/>
          </a:p>
        </p:txBody>
      </p:sp>
      <p:sp>
        <p:nvSpPr>
          <p:cNvPr id="22" name="Text 17"/>
          <p:cNvSpPr/>
          <p:nvPr/>
        </p:nvSpPr>
        <p:spPr>
          <a:xfrm>
            <a:off x="8242300" y="4119066"/>
            <a:ext cx="3060954" cy="262434"/>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4A5568"/>
                </a:solidFill>
                <a:latin typeface="IBM Plex Sans" pitchFamily="34" charset="0"/>
                <a:ea typeface="IBM Plex Sans" pitchFamily="34" charset="-122"/>
                <a:cs typeface="IBM Plex Sans" pitchFamily="34" charset="-120"/>
              </a:rPr>
              <a:t>local · stdio</a:t>
            </a:r>
            <a:endParaRPr lang="en-US" sz="1339" dirty="0"/>
          </a:p>
        </p:txBody>
      </p:sp>
      <p:sp>
        <p:nvSpPr>
          <p:cNvPr id="23" name="Shape 18"/>
          <p:cNvSpPr/>
          <p:nvPr/>
        </p:nvSpPr>
        <p:spPr>
          <a:xfrm>
            <a:off x="8083550" y="4768850"/>
            <a:ext cx="3289300" cy="685800"/>
          </a:xfrm>
          <a:prstGeom prst="roundRect">
            <a:avLst>
              <a:gd name="adj" fmla="val 12037"/>
            </a:avLst>
          </a:prstGeom>
          <a:solidFill>
            <a:srgbClr val="FDF1E6"/>
          </a:solidFill>
          <a:ln w="12700">
            <a:solidFill>
              <a:srgbClr val="C25A12"/>
            </a:solidFill>
            <a:prstDash val="dash"/>
          </a:ln>
        </p:spPr>
        <p:txBody>
          <a:bodyPr/>
          <a:lstStyle/>
          <a:p>
            <a:endParaRPr lang="en-US"/>
          </a:p>
        </p:txBody>
      </p:sp>
      <p:sp>
        <p:nvSpPr>
          <p:cNvPr id="24" name="Text 19"/>
          <p:cNvSpPr/>
          <p:nvPr/>
        </p:nvSpPr>
        <p:spPr>
          <a:xfrm>
            <a:off x="8242300" y="4851400"/>
            <a:ext cx="3060954" cy="296366"/>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4213D"/>
                </a:solidFill>
                <a:latin typeface="IBM Plex Sans" pitchFamily="34" charset="0"/>
                <a:ea typeface="IBM Plex Sans" pitchFamily="34" charset="-122"/>
                <a:cs typeface="IBM Plex Sans" pitchFamily="34" charset="-120"/>
              </a:rPr>
              <a:t>Server C · Sentry</a:t>
            </a:r>
            <a:endParaRPr lang="en-US" sz="1550" dirty="0"/>
          </a:p>
        </p:txBody>
      </p:sp>
      <p:sp>
        <p:nvSpPr>
          <p:cNvPr id="25" name="Text 20"/>
          <p:cNvSpPr/>
          <p:nvPr/>
        </p:nvSpPr>
        <p:spPr>
          <a:xfrm>
            <a:off x="8242300" y="5135066"/>
            <a:ext cx="3060954" cy="262434"/>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4A5568"/>
                </a:solidFill>
                <a:latin typeface="IBM Plex Sans" pitchFamily="34" charset="0"/>
                <a:ea typeface="IBM Plex Sans" pitchFamily="34" charset="-122"/>
                <a:cs typeface="IBM Plex Sans" pitchFamily="34" charset="-120"/>
              </a:rPr>
              <a:t>remote · HTTP</a:t>
            </a:r>
            <a:endParaRPr lang="en-US" sz="1339" dirty="0"/>
          </a:p>
        </p:txBody>
      </p:sp>
      <p:sp>
        <p:nvSpPr>
          <p:cNvPr id="26" name="Text 21"/>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2 · ARCHITECTURE</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Who's who, in plain words</a:t>
            </a:r>
            <a:endParaRPr lang="en-US" sz="3200" dirty="0"/>
          </a:p>
        </p:txBody>
      </p:sp>
      <p:sp>
        <p:nvSpPr>
          <p:cNvPr id="4" name="Shape 2"/>
          <p:cNvSpPr/>
          <p:nvPr/>
        </p:nvSpPr>
        <p:spPr>
          <a:xfrm>
            <a:off x="815975" y="1765796"/>
            <a:ext cx="3380284" cy="2283222"/>
          </a:xfrm>
          <a:prstGeom prst="roundRect">
            <a:avLst>
              <a:gd name="adj" fmla="val 4311"/>
            </a:avLst>
          </a:prstGeom>
          <a:solidFill>
            <a:srgbClr val="FFFEFB"/>
          </a:solidFill>
          <a:ln w="6350">
            <a:solidFill>
              <a:srgbClr val="E2DED3"/>
            </a:solidFill>
            <a:prstDash val="solid"/>
          </a:ln>
        </p:spPr>
        <p:txBody>
          <a:bodyPr/>
          <a:lstStyle/>
          <a:p>
            <a:endParaRPr lang="en-US"/>
          </a:p>
        </p:txBody>
      </p:sp>
      <p:sp>
        <p:nvSpPr>
          <p:cNvPr id="5" name="Text 3"/>
          <p:cNvSpPr/>
          <p:nvPr/>
        </p:nvSpPr>
        <p:spPr>
          <a:xfrm>
            <a:off x="1073150" y="2022971"/>
            <a:ext cx="2951912"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4213D"/>
                </a:solidFill>
                <a:latin typeface="IBM Plex Sans" pitchFamily="34" charset="0"/>
                <a:ea typeface="IBM Plex Sans" pitchFamily="34" charset="-122"/>
                <a:cs typeface="IBM Plex Sans" pitchFamily="34" charset="-120"/>
              </a:rPr>
              <a:t>Host</a:t>
            </a:r>
            <a:endParaRPr lang="en-US" sz="2400" dirty="0"/>
          </a:p>
        </p:txBody>
      </p:sp>
      <p:sp>
        <p:nvSpPr>
          <p:cNvPr id="6" name="Text 4"/>
          <p:cNvSpPr/>
          <p:nvPr/>
        </p:nvSpPr>
        <p:spPr>
          <a:xfrm>
            <a:off x="1073150" y="2490291"/>
            <a:ext cx="2951912"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213D"/>
                </a:solidFill>
                <a:latin typeface="IBM Plex Sans" pitchFamily="34" charset="0"/>
                <a:ea typeface="IBM Plex Sans" pitchFamily="34" charset="-122"/>
                <a:cs typeface="IBM Plex Sans" pitchFamily="34" charset="-120"/>
              </a:rPr>
              <a:t>The AI app you use</a:t>
            </a:r>
            <a:endParaRPr lang="en-US" sz="1700" dirty="0"/>
          </a:p>
        </p:txBody>
      </p:sp>
      <p:sp>
        <p:nvSpPr>
          <p:cNvPr id="7" name="Text 5"/>
          <p:cNvSpPr/>
          <p:nvPr/>
        </p:nvSpPr>
        <p:spPr>
          <a:xfrm>
            <a:off x="1073150" y="2883297"/>
            <a:ext cx="2951912"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C25A12"/>
                </a:solidFill>
                <a:latin typeface="IBM Plex Sans" pitchFamily="34" charset="0"/>
                <a:ea typeface="IBM Plex Sans" pitchFamily="34" charset="-122"/>
                <a:cs typeface="IBM Plex Sans" pitchFamily="34" charset="-120"/>
              </a:rPr>
              <a:t>Like a web browser</a:t>
            </a:r>
            <a:endParaRPr lang="en-US" sz="1500" dirty="0"/>
          </a:p>
        </p:txBody>
      </p:sp>
      <p:sp>
        <p:nvSpPr>
          <p:cNvPr id="8" name="Text 6"/>
          <p:cNvSpPr/>
          <p:nvPr/>
        </p:nvSpPr>
        <p:spPr>
          <a:xfrm>
            <a:off x="1073150" y="3251597"/>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Claude Desktop, VS Code</a:t>
            </a:r>
            <a:endParaRPr lang="en-US" sz="1400" dirty="0"/>
          </a:p>
        </p:txBody>
      </p:sp>
      <p:sp>
        <p:nvSpPr>
          <p:cNvPr id="9" name="Shape 7"/>
          <p:cNvSpPr/>
          <p:nvPr/>
        </p:nvSpPr>
        <p:spPr>
          <a:xfrm>
            <a:off x="4405809" y="1765796"/>
            <a:ext cx="3380383" cy="2283222"/>
          </a:xfrm>
          <a:prstGeom prst="roundRect">
            <a:avLst>
              <a:gd name="adj" fmla="val 4311"/>
            </a:avLst>
          </a:prstGeom>
          <a:solidFill>
            <a:srgbClr val="FFFEFB"/>
          </a:solidFill>
          <a:ln w="6350">
            <a:solidFill>
              <a:srgbClr val="E2DED3"/>
            </a:solidFill>
            <a:prstDash val="solid"/>
          </a:ln>
        </p:spPr>
        <p:txBody>
          <a:bodyPr/>
          <a:lstStyle/>
          <a:p>
            <a:endParaRPr lang="en-US"/>
          </a:p>
        </p:txBody>
      </p:sp>
      <p:sp>
        <p:nvSpPr>
          <p:cNvPr id="10" name="Text 8"/>
          <p:cNvSpPr/>
          <p:nvPr/>
        </p:nvSpPr>
        <p:spPr>
          <a:xfrm>
            <a:off x="4662984" y="2022971"/>
            <a:ext cx="2952014"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2563C9"/>
                </a:solidFill>
                <a:latin typeface="IBM Plex Sans" pitchFamily="34" charset="0"/>
                <a:ea typeface="IBM Plex Sans" pitchFamily="34" charset="-122"/>
                <a:cs typeface="IBM Plex Sans" pitchFamily="34" charset="-120"/>
              </a:rPr>
              <a:t>Client</a:t>
            </a:r>
            <a:endParaRPr lang="en-US" sz="2400" dirty="0"/>
          </a:p>
        </p:txBody>
      </p:sp>
      <p:sp>
        <p:nvSpPr>
          <p:cNvPr id="11" name="Text 9"/>
          <p:cNvSpPr/>
          <p:nvPr/>
        </p:nvSpPr>
        <p:spPr>
          <a:xfrm>
            <a:off x="4662984" y="2490291"/>
            <a:ext cx="2952014" cy="60821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213D"/>
                </a:solidFill>
                <a:latin typeface="IBM Plex Sans" pitchFamily="34" charset="0"/>
                <a:ea typeface="IBM Plex Sans" pitchFamily="34" charset="-122"/>
                <a:cs typeface="IBM Plex Sans" pitchFamily="34" charset="-120"/>
              </a:rPr>
              <a:t>A connector inside the host, one per server</a:t>
            </a:r>
            <a:endParaRPr lang="en-US" sz="1700" dirty="0"/>
          </a:p>
        </p:txBody>
      </p:sp>
      <p:sp>
        <p:nvSpPr>
          <p:cNvPr id="12" name="Text 10"/>
          <p:cNvSpPr/>
          <p:nvPr/>
        </p:nvSpPr>
        <p:spPr>
          <a:xfrm>
            <a:off x="4662984" y="3174702"/>
            <a:ext cx="2952014"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C25A12"/>
                </a:solidFill>
                <a:latin typeface="IBM Plex Sans" pitchFamily="34" charset="0"/>
                <a:ea typeface="IBM Plex Sans" pitchFamily="34" charset="-122"/>
                <a:cs typeface="IBM Plex Sans" pitchFamily="34" charset="-120"/>
              </a:rPr>
              <a:t>Like one browser tab</a:t>
            </a:r>
            <a:endParaRPr lang="en-US" sz="1500" dirty="0"/>
          </a:p>
        </p:txBody>
      </p:sp>
      <p:sp>
        <p:nvSpPr>
          <p:cNvPr id="13" name="Text 11"/>
          <p:cNvSpPr/>
          <p:nvPr/>
        </p:nvSpPr>
        <p:spPr>
          <a:xfrm>
            <a:off x="4662984" y="3543002"/>
            <a:ext cx="295201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Built into the host</a:t>
            </a:r>
            <a:endParaRPr lang="en-US" sz="1400" dirty="0"/>
          </a:p>
        </p:txBody>
      </p:sp>
      <p:sp>
        <p:nvSpPr>
          <p:cNvPr id="14" name="Shape 12"/>
          <p:cNvSpPr/>
          <p:nvPr/>
        </p:nvSpPr>
        <p:spPr>
          <a:xfrm>
            <a:off x="7995741" y="1765796"/>
            <a:ext cx="3380284" cy="2283222"/>
          </a:xfrm>
          <a:prstGeom prst="roundRect">
            <a:avLst>
              <a:gd name="adj" fmla="val 4311"/>
            </a:avLst>
          </a:prstGeom>
          <a:solidFill>
            <a:srgbClr val="FFFEFB"/>
          </a:solidFill>
          <a:ln w="6350">
            <a:solidFill>
              <a:srgbClr val="E2DED3"/>
            </a:solidFill>
            <a:prstDash val="solid"/>
          </a:ln>
        </p:spPr>
        <p:txBody>
          <a:bodyPr/>
          <a:lstStyle/>
          <a:p>
            <a:endParaRPr lang="en-US"/>
          </a:p>
        </p:txBody>
      </p:sp>
      <p:sp>
        <p:nvSpPr>
          <p:cNvPr id="15" name="Text 13"/>
          <p:cNvSpPr/>
          <p:nvPr/>
        </p:nvSpPr>
        <p:spPr>
          <a:xfrm>
            <a:off x="8252916" y="2022971"/>
            <a:ext cx="2951912"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C25A12"/>
                </a:solidFill>
                <a:latin typeface="IBM Plex Sans" pitchFamily="34" charset="0"/>
                <a:ea typeface="IBM Plex Sans" pitchFamily="34" charset="-122"/>
                <a:cs typeface="IBM Plex Sans" pitchFamily="34" charset="-120"/>
              </a:rPr>
              <a:t>Server</a:t>
            </a:r>
            <a:endParaRPr lang="en-US" sz="2400" dirty="0"/>
          </a:p>
        </p:txBody>
      </p:sp>
      <p:sp>
        <p:nvSpPr>
          <p:cNvPr id="16" name="Text 14"/>
          <p:cNvSpPr/>
          <p:nvPr/>
        </p:nvSpPr>
        <p:spPr>
          <a:xfrm>
            <a:off x="8252916" y="2490291"/>
            <a:ext cx="2951912" cy="60821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213D"/>
                </a:solidFill>
                <a:latin typeface="IBM Plex Sans" pitchFamily="34" charset="0"/>
                <a:ea typeface="IBM Plex Sans" pitchFamily="34" charset="-122"/>
                <a:cs typeface="IBM Plex Sans" pitchFamily="34" charset="-120"/>
              </a:rPr>
              <a:t>A program that offers tools and data</a:t>
            </a:r>
            <a:endParaRPr lang="en-US" sz="1700" dirty="0"/>
          </a:p>
        </p:txBody>
      </p:sp>
      <p:sp>
        <p:nvSpPr>
          <p:cNvPr id="17" name="Text 15"/>
          <p:cNvSpPr/>
          <p:nvPr/>
        </p:nvSpPr>
        <p:spPr>
          <a:xfrm>
            <a:off x="8252916" y="3174702"/>
            <a:ext cx="2951912"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C25A12"/>
                </a:solidFill>
                <a:latin typeface="IBM Plex Sans" pitchFamily="34" charset="0"/>
                <a:ea typeface="IBM Plex Sans" pitchFamily="34" charset="-122"/>
                <a:cs typeface="IBM Plex Sans" pitchFamily="34" charset="-120"/>
              </a:rPr>
              <a:t>Like a website</a:t>
            </a:r>
            <a:endParaRPr lang="en-US" sz="1500" dirty="0"/>
          </a:p>
        </p:txBody>
      </p:sp>
      <p:sp>
        <p:nvSpPr>
          <p:cNvPr id="18" name="Text 16"/>
          <p:cNvSpPr/>
          <p:nvPr/>
        </p:nvSpPr>
        <p:spPr>
          <a:xfrm>
            <a:off x="8252916" y="3543002"/>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GitHub, Sentry, your files</a:t>
            </a:r>
            <a:endParaRPr lang="en-US" sz="1400" dirty="0"/>
          </a:p>
        </p:txBody>
      </p:sp>
      <p:sp>
        <p:nvSpPr>
          <p:cNvPr id="19" name="Text 17"/>
          <p:cNvSpPr/>
          <p:nvPr/>
        </p:nvSpPr>
        <p:spPr>
          <a:xfrm>
            <a:off x="812800" y="4306193"/>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213D"/>
                </a:solidFill>
                <a:latin typeface="IBM Plex Sans" pitchFamily="34" charset="0"/>
                <a:ea typeface="IBM Plex Sans" pitchFamily="34" charset="-122"/>
                <a:cs typeface="IBM Plex Sans" pitchFamily="34" charset="-120"/>
              </a:rPr>
              <a:t>The host decides what the model may use, and asks you before risky actions.</a:t>
            </a:r>
            <a:endParaRPr lang="en-US" sz="1700" dirty="0"/>
          </a:p>
        </p:txBody>
      </p:sp>
      <p:sp>
        <p:nvSpPr>
          <p:cNvPr id="20" name="Text 18"/>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2 · ARCHITECTURE</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Two layers: what is said, how it travels</a:t>
            </a:r>
            <a:endParaRPr lang="en-US" sz="3200" dirty="0"/>
          </a:p>
        </p:txBody>
      </p:sp>
      <p:sp>
        <p:nvSpPr>
          <p:cNvPr id="4" name="Shape 2"/>
          <p:cNvSpPr/>
          <p:nvPr/>
        </p:nvSpPr>
        <p:spPr>
          <a:xfrm>
            <a:off x="822325" y="1772146"/>
            <a:ext cx="5105400" cy="2858691"/>
          </a:xfrm>
          <a:prstGeom prst="roundRect">
            <a:avLst>
              <a:gd name="adj" fmla="val 4109"/>
            </a:avLst>
          </a:prstGeom>
          <a:noFill/>
          <a:ln w="19050">
            <a:solidFill>
              <a:srgbClr val="2563C9"/>
            </a:solidFill>
            <a:prstDash val="dash"/>
          </a:ln>
        </p:spPr>
        <p:txBody>
          <a:bodyPr/>
          <a:lstStyle/>
          <a:p>
            <a:endParaRPr lang="en-US"/>
          </a:p>
        </p:txBody>
      </p:sp>
      <p:sp>
        <p:nvSpPr>
          <p:cNvPr id="5" name="Text 3"/>
          <p:cNvSpPr/>
          <p:nvPr/>
        </p:nvSpPr>
        <p:spPr>
          <a:xfrm>
            <a:off x="1035050" y="1984871"/>
            <a:ext cx="482034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563C9"/>
                </a:solidFill>
                <a:latin typeface="IBM Plex Sans" pitchFamily="34" charset="0"/>
                <a:ea typeface="IBM Plex Sans" pitchFamily="34" charset="-122"/>
                <a:cs typeface="IBM Plex Sans" pitchFamily="34" charset="-120"/>
              </a:rPr>
              <a:t>Transport (outer)</a:t>
            </a:r>
            <a:endParaRPr lang="en-US" sz="2000" dirty="0"/>
          </a:p>
        </p:txBody>
      </p:sp>
      <p:sp>
        <p:nvSpPr>
          <p:cNvPr id="6" name="Text 4"/>
          <p:cNvSpPr/>
          <p:nvPr/>
        </p:nvSpPr>
        <p:spPr>
          <a:xfrm>
            <a:off x="1035050" y="2416671"/>
            <a:ext cx="4820349"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How messages travel: </a:t>
            </a:r>
            <a:r>
              <a:rPr lang="en-US" sz="1600" b="1" dirty="0">
                <a:solidFill>
                  <a:srgbClr val="4A5568"/>
                </a:solidFill>
                <a:latin typeface="IBM Plex Sans" pitchFamily="34" charset="0"/>
                <a:ea typeface="IBM Plex Sans" pitchFamily="34" charset="-122"/>
                <a:cs typeface="IBM Plex Sans" pitchFamily="34" charset="-120"/>
              </a:rPr>
              <a:t>stdio</a:t>
            </a:r>
            <a:r>
              <a:rPr lang="en-US" sz="1600" dirty="0">
                <a:solidFill>
                  <a:srgbClr val="4A5568"/>
                </a:solidFill>
                <a:latin typeface="IBM Plex Sans" pitchFamily="34" charset="0"/>
                <a:ea typeface="IBM Plex Sans" pitchFamily="34" charset="-122"/>
                <a:cs typeface="IBM Plex Sans" pitchFamily="34" charset="-120"/>
              </a:rPr>
              <a:t> or </a:t>
            </a:r>
            <a:r>
              <a:rPr lang="en-US" sz="1600" b="1" dirty="0">
                <a:solidFill>
                  <a:srgbClr val="4A5568"/>
                </a:solidFill>
                <a:latin typeface="IBM Plex Sans" pitchFamily="34" charset="0"/>
                <a:ea typeface="IBM Plex Sans" pitchFamily="34" charset="-122"/>
                <a:cs typeface="IBM Plex Sans" pitchFamily="34" charset="-120"/>
              </a:rPr>
              <a:t>Streamable HTTP</a:t>
            </a:r>
            <a:r>
              <a:rPr lang="en-US" sz="1600" dirty="0">
                <a:solidFill>
                  <a:srgbClr val="4A5568"/>
                </a:solidFill>
                <a:latin typeface="IBM Plex Sans" pitchFamily="34" charset="0"/>
                <a:ea typeface="IBM Plex Sans" pitchFamily="34" charset="-122"/>
                <a:cs typeface="IBM Plex Sans" pitchFamily="34" charset="-120"/>
              </a:rPr>
              <a:t>. Also handles login.</a:t>
            </a:r>
            <a:endParaRPr lang="en-US" sz="1600" dirty="0"/>
          </a:p>
        </p:txBody>
      </p:sp>
      <p:sp>
        <p:nvSpPr>
          <p:cNvPr id="7" name="Shape 5"/>
          <p:cNvSpPr/>
          <p:nvPr/>
        </p:nvSpPr>
        <p:spPr>
          <a:xfrm>
            <a:off x="1035050" y="3112591"/>
            <a:ext cx="4679950" cy="1305520"/>
          </a:xfrm>
          <a:prstGeom prst="roundRect">
            <a:avLst>
              <a:gd name="adj" fmla="val 7782"/>
            </a:avLst>
          </a:prstGeom>
          <a:solidFill>
            <a:srgbClr val="14213D"/>
          </a:solidFill>
          <a:ln/>
        </p:spPr>
        <p:txBody>
          <a:bodyPr/>
          <a:lstStyle/>
          <a:p>
            <a:endParaRPr lang="en-US"/>
          </a:p>
        </p:txBody>
      </p:sp>
      <p:sp>
        <p:nvSpPr>
          <p:cNvPr id="8" name="Text 6"/>
          <p:cNvSpPr/>
          <p:nvPr/>
        </p:nvSpPr>
        <p:spPr>
          <a:xfrm>
            <a:off x="1212850" y="3290391"/>
            <a:ext cx="445408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F"/>
                </a:solidFill>
                <a:latin typeface="IBM Plex Sans" pitchFamily="34" charset="0"/>
                <a:ea typeface="IBM Plex Sans" pitchFamily="34" charset="-122"/>
                <a:cs typeface="IBM Plex Sans" pitchFamily="34" charset="-120"/>
              </a:rPr>
              <a:t>Data (inner)</a:t>
            </a:r>
            <a:endParaRPr lang="en-US" sz="2000" dirty="0"/>
          </a:p>
        </p:txBody>
      </p:sp>
      <p:sp>
        <p:nvSpPr>
          <p:cNvPr id="9" name="Text 7"/>
          <p:cNvSpPr/>
          <p:nvPr/>
        </p:nvSpPr>
        <p:spPr>
          <a:xfrm>
            <a:off x="1212850" y="3671391"/>
            <a:ext cx="4454081"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IBM Plex Sans" pitchFamily="34" charset="0"/>
                <a:ea typeface="IBM Plex Sans" pitchFamily="34" charset="-122"/>
                <a:cs typeface="IBM Plex Sans" pitchFamily="34" charset="-120"/>
              </a:rPr>
              <a:t>What messages mean: </a:t>
            </a:r>
            <a:r>
              <a:rPr lang="en-US" sz="1600" b="1" dirty="0">
                <a:solidFill>
                  <a:srgbClr val="C9D3E3"/>
                </a:solidFill>
                <a:latin typeface="IBM Plex Sans" pitchFamily="34" charset="0"/>
                <a:ea typeface="IBM Plex Sans" pitchFamily="34" charset="-122"/>
                <a:cs typeface="IBM Plex Sans" pitchFamily="34" charset="-120"/>
              </a:rPr>
              <a:t>JSON-RPC</a:t>
            </a:r>
            <a:r>
              <a:rPr lang="en-US" sz="1600" dirty="0">
                <a:solidFill>
                  <a:srgbClr val="C9D3E3"/>
                </a:solidFill>
                <a:latin typeface="IBM Plex Sans" pitchFamily="34" charset="0"/>
                <a:ea typeface="IBM Plex Sans" pitchFamily="34" charset="-122"/>
                <a:cs typeface="IBM Plex Sans" pitchFamily="34" charset="-120"/>
              </a:rPr>
              <a:t>. Tools, resources, prompts.</a:t>
            </a:r>
            <a:endParaRPr lang="en-US" sz="1600" dirty="0"/>
          </a:p>
        </p:txBody>
      </p:sp>
      <p:sp>
        <p:nvSpPr>
          <p:cNvPr id="10" name="Text 8"/>
          <p:cNvSpPr/>
          <p:nvPr/>
        </p:nvSpPr>
        <p:spPr>
          <a:xfrm>
            <a:off x="6242050" y="1762621"/>
            <a:ext cx="5137150" cy="2877741"/>
          </a:xfrm>
          <a:prstGeom prst="roundRect">
            <a:avLst>
              <a:gd name="adj" fmla="val 3531"/>
            </a:avLst>
          </a:prstGeom>
          <a:solidFill>
            <a:srgbClr val="1B2740"/>
          </a:solidFill>
          <a:ln/>
        </p:spPr>
        <p:txBody>
          <a:bodyPr wrap="square" lIns="198842" tIns="173442" rIns="58444" bIns="173442" rtlCol="0" anchor="t">
            <a:normAutofit/>
          </a:bodyPr>
          <a:lstStyle/>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"jsonrpc": "2.0",</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"id": 7,</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"method": "tools/call",</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"params": {</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"name": "search_papers",</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"arguments": {"query": "rag"},</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"_meta": {</a:t>
            </a:r>
            <a:r>
              <a:rPr lang="en-US" sz="1400" dirty="0">
                <a:solidFill>
                  <a:srgbClr val="8FA3BF"/>
                </a:solidFill>
                <a:latin typeface="JetBrains Mono" pitchFamily="49" charset="0"/>
                <a:ea typeface="JetBrains Mono" pitchFamily="49" charset="-122"/>
                <a:cs typeface="JetBrains Mono" pitchFamily="49" charset="-120"/>
              </a:rPr>
              <a:t> version, capabilities</a:t>
            </a:r>
            <a:r>
              <a:rPr lang="en-US" sz="1400" dirty="0">
                <a:solidFill>
                  <a:srgbClr val="E6EDF7"/>
                </a:solidFill>
                <a:latin typeface="JetBrains Mono" pitchFamily="49" charset="0"/>
                <a:ea typeface="JetBrains Mono" pitchFamily="49" charset="-122"/>
                <a:cs typeface="JetBrains Mono" pitchFamily="49" charset="-120"/>
              </a:rPr>
              <a:t> }</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  }</a:t>
            </a:r>
            <a:endParaRPr lang="en-US" sz="1400" dirty="0"/>
          </a:p>
          <a:p>
            <a:pPr marL="0" indent="0" algn="l">
              <a:lnSpc>
                <a:spcPts val="1890"/>
              </a:lnSpc>
              <a:buNone/>
            </a:pPr>
            <a:r>
              <a:rPr lang="en-US" sz="1400" dirty="0">
                <a:solidFill>
                  <a:srgbClr val="E6EDF7"/>
                </a:solidFill>
                <a:latin typeface="JetBrains Mono" pitchFamily="49" charset="0"/>
                <a:ea typeface="JetBrains Mono" pitchFamily="49" charset="-122"/>
                <a:cs typeface="JetBrains Mono" pitchFamily="49" charset="-120"/>
              </a:rPr>
              <a:t>}</a:t>
            </a:r>
            <a:endParaRPr lang="en-US" sz="1400" dirty="0"/>
          </a:p>
        </p:txBody>
      </p:sp>
      <p:sp>
        <p:nvSpPr>
          <p:cNvPr id="11" name="Shape 9"/>
          <p:cNvSpPr/>
          <p:nvPr/>
        </p:nvSpPr>
        <p:spPr>
          <a:xfrm>
            <a:off x="812800" y="4894362"/>
            <a:ext cx="10566400" cy="787400"/>
          </a:xfrm>
          <a:prstGeom prst="roundRect">
            <a:avLst>
              <a:gd name="adj" fmla="val 9677"/>
            </a:avLst>
          </a:prstGeom>
          <a:solidFill>
            <a:srgbClr val="EFECE4"/>
          </a:solidFill>
          <a:ln/>
        </p:spPr>
        <p:txBody>
          <a:bodyPr/>
          <a:lstStyle/>
          <a:p>
            <a:endParaRPr lang="en-US"/>
          </a:p>
        </p:txBody>
      </p:sp>
      <p:pic>
        <p:nvPicPr>
          <p:cNvPr id="12" name="Image 0" descr="Book"/>
          <p:cNvPicPr>
            <a:picLocks noChangeAspect="1"/>
          </p:cNvPicPr>
          <p:nvPr/>
        </p:nvPicPr>
        <p:blipFill>
          <a:blip r:embed="rId3"/>
          <a:srcRect/>
          <a:stretch/>
        </p:blipFill>
        <p:spPr>
          <a:xfrm>
            <a:off x="990600" y="5021362"/>
            <a:ext cx="254000" cy="254000"/>
          </a:xfrm>
          <a:prstGeom prst="rect">
            <a:avLst/>
          </a:prstGeom>
        </p:spPr>
      </p:pic>
      <p:sp>
        <p:nvSpPr>
          <p:cNvPr id="13" name="Text 10"/>
          <p:cNvSpPr/>
          <p:nvPr/>
        </p:nvSpPr>
        <p:spPr>
          <a:xfrm>
            <a:off x="1397000" y="5021362"/>
            <a:ext cx="7353055"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JSON-RPC</a:t>
            </a:r>
            <a:r>
              <a:rPr lang="en-US" sz="1500" dirty="0">
                <a:solidFill>
                  <a:srgbClr val="14213D"/>
                </a:solidFill>
                <a:latin typeface="IBM Plex Sans" pitchFamily="34" charset="0"/>
                <a:ea typeface="IBM Plex Sans" pitchFamily="34" charset="-122"/>
                <a:cs typeface="IBM Plex Sans" pitchFamily="34" charset="-120"/>
              </a:rPr>
              <a:t> = a simple JSON message that says "call this method with these inputs."</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stdio</a:t>
            </a:r>
            <a:r>
              <a:rPr lang="en-US" sz="1500" dirty="0">
                <a:solidFill>
                  <a:srgbClr val="14213D"/>
                </a:solidFill>
                <a:latin typeface="IBM Plex Sans" pitchFamily="34" charset="0"/>
                <a:ea typeface="IBM Plex Sans" pitchFamily="34" charset="-122"/>
                <a:cs typeface="IBM Plex Sans" pitchFamily="34" charset="-120"/>
              </a:rPr>
              <a:t> = the input and output pipes every program has (where print() writes).</a:t>
            </a:r>
            <a:endParaRPr lang="en-US" sz="1500" dirty="0"/>
          </a:p>
        </p:txBody>
      </p:sp>
      <p:sp>
        <p:nvSpPr>
          <p:cNvPr id="14" name="Text 11"/>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0A35E"/>
                </a:solidFill>
                <a:latin typeface="JetBrains Mono" pitchFamily="49" charset="0"/>
                <a:ea typeface="JetBrains Mono" pitchFamily="49" charset="-122"/>
                <a:cs typeface="JetBrains Mono" pitchFamily="49" charset="-120"/>
              </a:rPr>
              <a:t>3 · THE CENTRAL DISTINCTION</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5EF"/>
                </a:solidFill>
                <a:latin typeface="IBM Plex Sans" pitchFamily="34" charset="0"/>
                <a:ea typeface="IBM Plex Sans" pitchFamily="34" charset="-122"/>
                <a:cs typeface="IBM Plex Sans" pitchFamily="34" charset="-120"/>
              </a:rPr>
              <a:t>Three things a server can offer</a:t>
            </a:r>
            <a:endParaRPr lang="en-US" sz="3200" dirty="0"/>
          </a:p>
        </p:txBody>
      </p:sp>
      <p:sp>
        <p:nvSpPr>
          <p:cNvPr id="4" name="Shape 2"/>
          <p:cNvSpPr/>
          <p:nvPr/>
        </p:nvSpPr>
        <p:spPr>
          <a:xfrm>
            <a:off x="812800" y="1813421"/>
            <a:ext cx="3386634" cy="2181622"/>
          </a:xfrm>
          <a:prstGeom prst="roundRect">
            <a:avLst>
              <a:gd name="adj" fmla="val 4657"/>
            </a:avLst>
          </a:prstGeom>
          <a:solidFill>
            <a:srgbClr val="1E2D4D"/>
          </a:solidFill>
          <a:ln/>
        </p:spPr>
        <p:txBody>
          <a:bodyPr/>
          <a:lstStyle/>
          <a:p>
            <a:endParaRPr lang="en-US"/>
          </a:p>
        </p:txBody>
      </p:sp>
      <p:sp>
        <p:nvSpPr>
          <p:cNvPr id="5" name="Shape 3"/>
          <p:cNvSpPr/>
          <p:nvPr/>
        </p:nvSpPr>
        <p:spPr>
          <a:xfrm>
            <a:off x="812800" y="1813421"/>
            <a:ext cx="3386634" cy="2181622"/>
          </a:xfrm>
          <a:custGeom>
            <a:avLst/>
            <a:gdLst/>
            <a:ahLst/>
            <a:cxnLst/>
            <a:rect l="l" t="t" r="r" b="b"/>
            <a:pathLst>
              <a:path w="3386634" h="2181622">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7FA8F0"/>
          </a:solidFill>
          <a:ln/>
        </p:spPr>
        <p:txBody>
          <a:bodyPr/>
          <a:lstStyle/>
          <a:p>
            <a:endParaRPr lang="en-US"/>
          </a:p>
        </p:txBody>
      </p:sp>
      <p:sp>
        <p:nvSpPr>
          <p:cNvPr id="6" name="Text 4"/>
          <p:cNvSpPr/>
          <p:nvPr/>
        </p:nvSpPr>
        <p:spPr>
          <a:xfrm>
            <a:off x="1066800" y="2118221"/>
            <a:ext cx="2964993" cy="452041"/>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7FA8F0"/>
                </a:solidFill>
                <a:latin typeface="IBM Plex Sans" pitchFamily="34" charset="0"/>
                <a:ea typeface="IBM Plex Sans" pitchFamily="34" charset="-122"/>
                <a:cs typeface="IBM Plex Sans" pitchFamily="34" charset="-120"/>
              </a:rPr>
              <a:t>Tool</a:t>
            </a:r>
            <a:endParaRPr lang="en-US" sz="2800" dirty="0"/>
          </a:p>
        </p:txBody>
      </p:sp>
      <p:sp>
        <p:nvSpPr>
          <p:cNvPr id="7" name="Text 5"/>
          <p:cNvSpPr/>
          <p:nvPr/>
        </p:nvSpPr>
        <p:spPr>
          <a:xfrm>
            <a:off x="1066800" y="2671862"/>
            <a:ext cx="2964993" cy="342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F7F5EF"/>
                </a:solidFill>
                <a:latin typeface="IBM Plex Sans" pitchFamily="34" charset="0"/>
                <a:ea typeface="IBM Plex Sans" pitchFamily="34" charset="-122"/>
                <a:cs typeface="IBM Plex Sans" pitchFamily="34" charset="-120"/>
              </a:rPr>
              <a:t>performs an </a:t>
            </a:r>
            <a:r>
              <a:rPr lang="en-US" sz="2000" b="1" dirty="0">
                <a:solidFill>
                  <a:srgbClr val="F7F5EF"/>
                </a:solidFill>
                <a:latin typeface="IBM Plex Sans" pitchFamily="34" charset="0"/>
                <a:ea typeface="IBM Plex Sans" pitchFamily="34" charset="-122"/>
                <a:cs typeface="IBM Plex Sans" pitchFamily="34" charset="-120"/>
              </a:rPr>
              <a:t>action</a:t>
            </a:r>
            <a:endParaRPr lang="en-US" sz="2000" dirty="0"/>
          </a:p>
        </p:txBody>
      </p:sp>
      <p:sp>
        <p:nvSpPr>
          <p:cNvPr id="8" name="Text 6"/>
          <p:cNvSpPr/>
          <p:nvPr/>
        </p:nvSpPr>
        <p:spPr>
          <a:xfrm>
            <a:off x="1066800" y="3116362"/>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Model decides</a:t>
            </a:r>
            <a:endParaRPr lang="en-US" sz="1400" dirty="0"/>
          </a:p>
        </p:txBody>
      </p:sp>
      <p:sp>
        <p:nvSpPr>
          <p:cNvPr id="9" name="Text 7"/>
          <p:cNvSpPr/>
          <p:nvPr/>
        </p:nvSpPr>
        <p:spPr>
          <a:xfrm>
            <a:off x="1066800" y="3492202"/>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JetBrains Mono" pitchFamily="49" charset="0"/>
                <a:ea typeface="JetBrains Mono" pitchFamily="49" charset="-122"/>
                <a:cs typeface="JetBrains Mono" pitchFamily="49" charset="-120"/>
              </a:rPr>
              <a:t>search_papers()</a:t>
            </a:r>
            <a:endParaRPr lang="en-US" sz="1400" dirty="0"/>
          </a:p>
        </p:txBody>
      </p:sp>
      <p:sp>
        <p:nvSpPr>
          <p:cNvPr id="10" name="Shape 8"/>
          <p:cNvSpPr/>
          <p:nvPr/>
        </p:nvSpPr>
        <p:spPr>
          <a:xfrm>
            <a:off x="4402634" y="1813421"/>
            <a:ext cx="3386733" cy="2181622"/>
          </a:xfrm>
          <a:prstGeom prst="roundRect">
            <a:avLst>
              <a:gd name="adj" fmla="val 4657"/>
            </a:avLst>
          </a:prstGeom>
          <a:solidFill>
            <a:srgbClr val="1E2D4D"/>
          </a:solidFill>
          <a:ln/>
        </p:spPr>
        <p:txBody>
          <a:bodyPr/>
          <a:lstStyle/>
          <a:p>
            <a:endParaRPr lang="en-US"/>
          </a:p>
        </p:txBody>
      </p:sp>
      <p:sp>
        <p:nvSpPr>
          <p:cNvPr id="11" name="Shape 9"/>
          <p:cNvSpPr/>
          <p:nvPr/>
        </p:nvSpPr>
        <p:spPr>
          <a:xfrm>
            <a:off x="4402634" y="1813421"/>
            <a:ext cx="3386733" cy="2181622"/>
          </a:xfrm>
          <a:custGeom>
            <a:avLst/>
            <a:gdLst/>
            <a:ahLst/>
            <a:cxnLst/>
            <a:rect l="l" t="t" r="r" b="b"/>
            <a:pathLst>
              <a:path w="3386733" h="2181622">
                <a:moveTo>
                  <a:pt x="0" y="101600"/>
                </a:moveTo>
                <a:lnTo>
                  <a:pt x="0" y="101600"/>
                </a:lnTo>
                <a:arcTo wR="101600" hR="101600" stAng="10800000" swAng="5400000"/>
                <a:lnTo>
                  <a:pt x="3285133" y="0"/>
                </a:lnTo>
                <a:arcTo wR="101600" hR="101600" stAng="16200000" swAng="5400000"/>
                <a:lnTo>
                  <a:pt x="3386733" y="101600"/>
                </a:lnTo>
                <a:arcTo wR="101600" hR="50800" stAng="0" swAng="-5400000"/>
                <a:lnTo>
                  <a:pt x="101600" y="50800"/>
                </a:lnTo>
                <a:arcTo wR="101600" hR="50800" stAng="16200000" swAng="-5400000"/>
                <a:close/>
              </a:path>
            </a:pathLst>
          </a:custGeom>
          <a:solidFill>
            <a:srgbClr val="F0A35E"/>
          </a:solidFill>
          <a:ln/>
        </p:spPr>
        <p:txBody>
          <a:bodyPr/>
          <a:lstStyle/>
          <a:p>
            <a:endParaRPr lang="en-US"/>
          </a:p>
        </p:txBody>
      </p:sp>
      <p:sp>
        <p:nvSpPr>
          <p:cNvPr id="12" name="Text 10"/>
          <p:cNvSpPr/>
          <p:nvPr/>
        </p:nvSpPr>
        <p:spPr>
          <a:xfrm>
            <a:off x="4656634" y="2118221"/>
            <a:ext cx="2965095" cy="452041"/>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F0A35E"/>
                </a:solidFill>
                <a:latin typeface="IBM Plex Sans" pitchFamily="34" charset="0"/>
                <a:ea typeface="IBM Plex Sans" pitchFamily="34" charset="-122"/>
                <a:cs typeface="IBM Plex Sans" pitchFamily="34" charset="-120"/>
              </a:rPr>
              <a:t>Resource</a:t>
            </a:r>
            <a:endParaRPr lang="en-US" sz="2800" dirty="0"/>
          </a:p>
        </p:txBody>
      </p:sp>
      <p:sp>
        <p:nvSpPr>
          <p:cNvPr id="13" name="Text 11"/>
          <p:cNvSpPr/>
          <p:nvPr/>
        </p:nvSpPr>
        <p:spPr>
          <a:xfrm>
            <a:off x="4656634" y="2671862"/>
            <a:ext cx="3132733" cy="342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F7F5EF"/>
                </a:solidFill>
                <a:latin typeface="IBM Plex Sans" pitchFamily="34" charset="0"/>
                <a:ea typeface="IBM Plex Sans" pitchFamily="34" charset="-122"/>
                <a:cs typeface="IBM Plex Sans" pitchFamily="34" charset="-120"/>
              </a:rPr>
              <a:t>provides </a:t>
            </a:r>
            <a:r>
              <a:rPr lang="en-US" sz="2000" b="1" dirty="0">
                <a:solidFill>
                  <a:srgbClr val="F7F5EF"/>
                </a:solidFill>
                <a:latin typeface="IBM Plex Sans" pitchFamily="34" charset="0"/>
                <a:ea typeface="IBM Plex Sans" pitchFamily="34" charset="-122"/>
                <a:cs typeface="IBM Plex Sans" pitchFamily="34" charset="-120"/>
              </a:rPr>
              <a:t>data or context</a:t>
            </a:r>
            <a:endParaRPr lang="en-US" sz="2000" dirty="0"/>
          </a:p>
        </p:txBody>
      </p:sp>
      <p:sp>
        <p:nvSpPr>
          <p:cNvPr id="14" name="Text 12"/>
          <p:cNvSpPr/>
          <p:nvPr/>
        </p:nvSpPr>
        <p:spPr>
          <a:xfrm>
            <a:off x="4656634" y="3116362"/>
            <a:ext cx="296509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App decides</a:t>
            </a:r>
            <a:endParaRPr lang="en-US" sz="1400" dirty="0"/>
          </a:p>
        </p:txBody>
      </p:sp>
      <p:sp>
        <p:nvSpPr>
          <p:cNvPr id="15" name="Text 13"/>
          <p:cNvSpPr/>
          <p:nvPr/>
        </p:nvSpPr>
        <p:spPr>
          <a:xfrm>
            <a:off x="4656634" y="3492202"/>
            <a:ext cx="296509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JetBrains Mono" pitchFamily="49" charset="0"/>
                <a:ea typeface="JetBrains Mono" pitchFamily="49" charset="-122"/>
                <a:cs typeface="JetBrains Mono" pitchFamily="49" charset="-120"/>
              </a:rPr>
              <a:t>papers://reading-list</a:t>
            </a:r>
            <a:endParaRPr lang="en-US" sz="1400" dirty="0"/>
          </a:p>
        </p:txBody>
      </p:sp>
      <p:sp>
        <p:nvSpPr>
          <p:cNvPr id="16" name="Shape 14"/>
          <p:cNvSpPr/>
          <p:nvPr/>
        </p:nvSpPr>
        <p:spPr>
          <a:xfrm>
            <a:off x="7992566" y="1813421"/>
            <a:ext cx="3386634" cy="2181622"/>
          </a:xfrm>
          <a:prstGeom prst="roundRect">
            <a:avLst>
              <a:gd name="adj" fmla="val 4657"/>
            </a:avLst>
          </a:prstGeom>
          <a:solidFill>
            <a:srgbClr val="1E2D4D"/>
          </a:solidFill>
          <a:ln/>
        </p:spPr>
        <p:txBody>
          <a:bodyPr/>
          <a:lstStyle/>
          <a:p>
            <a:endParaRPr lang="en-US"/>
          </a:p>
        </p:txBody>
      </p:sp>
      <p:sp>
        <p:nvSpPr>
          <p:cNvPr id="17" name="Shape 15"/>
          <p:cNvSpPr/>
          <p:nvPr/>
        </p:nvSpPr>
        <p:spPr>
          <a:xfrm>
            <a:off x="7992566" y="1813421"/>
            <a:ext cx="3386634" cy="2181622"/>
          </a:xfrm>
          <a:custGeom>
            <a:avLst/>
            <a:gdLst/>
            <a:ahLst/>
            <a:cxnLst/>
            <a:rect l="l" t="t" r="r" b="b"/>
            <a:pathLst>
              <a:path w="3386634" h="2181622">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7CCBA2"/>
          </a:solidFill>
          <a:ln/>
        </p:spPr>
        <p:txBody>
          <a:bodyPr/>
          <a:lstStyle/>
          <a:p>
            <a:endParaRPr lang="en-US"/>
          </a:p>
        </p:txBody>
      </p:sp>
      <p:sp>
        <p:nvSpPr>
          <p:cNvPr id="18" name="Text 16"/>
          <p:cNvSpPr/>
          <p:nvPr/>
        </p:nvSpPr>
        <p:spPr>
          <a:xfrm>
            <a:off x="8246566" y="2118221"/>
            <a:ext cx="2964993" cy="452041"/>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7CCBA2"/>
                </a:solidFill>
                <a:latin typeface="IBM Plex Sans" pitchFamily="34" charset="0"/>
                <a:ea typeface="IBM Plex Sans" pitchFamily="34" charset="-122"/>
                <a:cs typeface="IBM Plex Sans" pitchFamily="34" charset="-120"/>
              </a:rPr>
              <a:t>Prompt</a:t>
            </a:r>
            <a:endParaRPr lang="en-US" sz="2800" dirty="0"/>
          </a:p>
        </p:txBody>
      </p:sp>
      <p:sp>
        <p:nvSpPr>
          <p:cNvPr id="19" name="Text 17"/>
          <p:cNvSpPr/>
          <p:nvPr/>
        </p:nvSpPr>
        <p:spPr>
          <a:xfrm>
            <a:off x="8246566" y="2671862"/>
            <a:ext cx="2964993" cy="342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F7F5EF"/>
                </a:solidFill>
                <a:latin typeface="IBM Plex Sans" pitchFamily="34" charset="0"/>
                <a:ea typeface="IBM Plex Sans" pitchFamily="34" charset="-122"/>
                <a:cs typeface="IBM Plex Sans" pitchFamily="34" charset="-120"/>
              </a:rPr>
              <a:t>a reusable </a:t>
            </a:r>
            <a:r>
              <a:rPr lang="en-US" sz="2000" b="1" dirty="0">
                <a:solidFill>
                  <a:srgbClr val="F7F5EF"/>
                </a:solidFill>
                <a:latin typeface="IBM Plex Sans" pitchFamily="34" charset="0"/>
                <a:ea typeface="IBM Plex Sans" pitchFamily="34" charset="-122"/>
                <a:cs typeface="IBM Plex Sans" pitchFamily="34" charset="-120"/>
              </a:rPr>
              <a:t>template</a:t>
            </a:r>
            <a:endParaRPr lang="en-US" sz="2000" dirty="0"/>
          </a:p>
        </p:txBody>
      </p:sp>
      <p:sp>
        <p:nvSpPr>
          <p:cNvPr id="20" name="Text 18"/>
          <p:cNvSpPr/>
          <p:nvPr/>
        </p:nvSpPr>
        <p:spPr>
          <a:xfrm>
            <a:off x="8246566" y="3116362"/>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IBM Plex Sans" pitchFamily="34" charset="0"/>
                <a:ea typeface="IBM Plex Sans" pitchFamily="34" charset="-122"/>
                <a:cs typeface="IBM Plex Sans" pitchFamily="34" charset="-120"/>
              </a:rPr>
              <a:t>User decides</a:t>
            </a:r>
            <a:endParaRPr lang="en-US" sz="1400" dirty="0"/>
          </a:p>
        </p:txBody>
      </p:sp>
      <p:sp>
        <p:nvSpPr>
          <p:cNvPr id="21" name="Text 19"/>
          <p:cNvSpPr/>
          <p:nvPr/>
        </p:nvSpPr>
        <p:spPr>
          <a:xfrm>
            <a:off x="8246566" y="3492202"/>
            <a:ext cx="29649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JetBrains Mono" pitchFamily="49" charset="0"/>
                <a:ea typeface="JetBrains Mono" pitchFamily="49" charset="-122"/>
                <a:cs typeface="JetBrains Mono" pitchFamily="49" charset="-120"/>
              </a:rPr>
              <a:t>/review_paper</a:t>
            </a:r>
            <a:endParaRPr lang="en-US" sz="1400" dirty="0"/>
          </a:p>
        </p:txBody>
      </p:sp>
      <p:sp>
        <p:nvSpPr>
          <p:cNvPr id="22" name="Text 20"/>
          <p:cNvSpPr/>
          <p:nvPr/>
        </p:nvSpPr>
        <p:spPr>
          <a:xfrm>
            <a:off x="812800" y="4299843"/>
            <a:ext cx="10883392" cy="351135"/>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F7F5EF"/>
                </a:solidFill>
                <a:latin typeface="IBM Plex Sans" pitchFamily="34" charset="0"/>
                <a:ea typeface="IBM Plex Sans" pitchFamily="34" charset="-122"/>
                <a:cs typeface="IBM Plex Sans" pitchFamily="34" charset="-120"/>
              </a:rPr>
              <a:t>MCP standardizes </a:t>
            </a:r>
            <a:r>
              <a:rPr lang="en-US" sz="1900" b="1" dirty="0">
                <a:solidFill>
                  <a:srgbClr val="F7F5EF"/>
                </a:solidFill>
                <a:latin typeface="IBM Plex Sans" pitchFamily="34" charset="0"/>
                <a:ea typeface="IBM Plex Sans" pitchFamily="34" charset="-122"/>
                <a:cs typeface="IBM Plex Sans" pitchFamily="34" charset="-120"/>
              </a:rPr>
              <a:t>how</a:t>
            </a:r>
            <a:r>
              <a:rPr lang="en-US" sz="1900" dirty="0">
                <a:solidFill>
                  <a:srgbClr val="F7F5EF"/>
                </a:solidFill>
                <a:latin typeface="IBM Plex Sans" pitchFamily="34" charset="0"/>
                <a:ea typeface="IBM Plex Sans" pitchFamily="34" charset="-122"/>
                <a:cs typeface="IBM Plex Sans" pitchFamily="34" charset="-120"/>
              </a:rPr>
              <a:t> all three are exposed to an AI app.</a:t>
            </a:r>
            <a:endParaRPr lang="en-US" sz="1900" dirty="0"/>
          </a:p>
        </p:txBody>
      </p:sp>
      <p:sp>
        <p:nvSpPr>
          <p:cNvPr id="23" name="Text 21"/>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563C9"/>
                </a:solidFill>
                <a:latin typeface="JetBrains Mono" pitchFamily="49" charset="0"/>
                <a:ea typeface="JetBrains Mono" pitchFamily="49" charset="-122"/>
                <a:cs typeface="JetBrains Mono" pitchFamily="49" charset="-120"/>
              </a:rPr>
              <a:t>3 · TOOLS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Tools: functions the model can call</a:t>
            </a:r>
            <a:endParaRPr lang="en-US" sz="3200" dirty="0"/>
          </a:p>
        </p:txBody>
      </p:sp>
      <p:sp>
        <p:nvSpPr>
          <p:cNvPr id="4" name="Text 2"/>
          <p:cNvSpPr/>
          <p:nvPr/>
        </p:nvSpPr>
        <p:spPr>
          <a:xfrm>
            <a:off x="870458" y="1762621"/>
            <a:ext cx="4983988" cy="116324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description</a:t>
            </a:r>
            <a:r>
              <a:rPr lang="en-US" sz="1600" dirty="0">
                <a:solidFill>
                  <a:srgbClr val="14213D"/>
                </a:solidFill>
                <a:latin typeface="IBM Plex Sans" pitchFamily="34" charset="0"/>
                <a:ea typeface="IBM Plex Sans" pitchFamily="34" charset="-122"/>
                <a:cs typeface="IBM Plex Sans" pitchFamily="34" charset="-120"/>
              </a:rPr>
              <a:t>: what the model reads to choose</a:t>
            </a:r>
            <a:endParaRPr lang="en-US" sz="1600" dirty="0"/>
          </a:p>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inputSchema</a:t>
            </a:r>
            <a:r>
              <a:rPr lang="en-US" sz="1600" dirty="0">
                <a:solidFill>
                  <a:srgbClr val="14213D"/>
                </a:solidFill>
                <a:latin typeface="IBM Plex Sans" pitchFamily="34" charset="0"/>
                <a:ea typeface="IBM Plex Sans" pitchFamily="34" charset="-122"/>
                <a:cs typeface="IBM Plex Sans" pitchFamily="34" charset="-120"/>
              </a:rPr>
              <a:t>: the inputs it expects</a:t>
            </a:r>
            <a:endParaRPr lang="en-US" sz="1600" dirty="0"/>
          </a:p>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annotations</a:t>
            </a:r>
            <a:r>
              <a:rPr lang="en-US" sz="1600" dirty="0">
                <a:solidFill>
                  <a:srgbClr val="14213D"/>
                </a:solidFill>
                <a:latin typeface="IBM Plex Sans" pitchFamily="34" charset="0"/>
                <a:ea typeface="IBM Plex Sans" pitchFamily="34" charset="-122"/>
                <a:cs typeface="IBM Plex Sans" pitchFamily="34" charset="-120"/>
              </a:rPr>
              <a:t>: labels like "read-only"</a:t>
            </a:r>
            <a:endParaRPr lang="en-US" sz="1600" dirty="0"/>
          </a:p>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isError: true</a:t>
            </a:r>
            <a:r>
              <a:rPr lang="en-US" sz="1600" dirty="0">
                <a:solidFill>
                  <a:srgbClr val="14213D"/>
                </a:solidFill>
                <a:latin typeface="IBM Plex Sans" pitchFamily="34" charset="0"/>
                <a:ea typeface="IBM Plex Sans" pitchFamily="34" charset="-122"/>
                <a:cs typeface="IBM Plex Sans" pitchFamily="34" charset="-120"/>
              </a:rPr>
              <a:t>: the model can fix its call and retry</a:t>
            </a:r>
            <a:endParaRPr lang="en-US" sz="1600" dirty="0"/>
          </a:p>
        </p:txBody>
      </p:sp>
      <p:sp>
        <p:nvSpPr>
          <p:cNvPr id="5" name="Text 3"/>
          <p:cNvSpPr/>
          <p:nvPr/>
        </p:nvSpPr>
        <p:spPr>
          <a:xfrm>
            <a:off x="812800" y="3078262"/>
            <a:ext cx="4902200" cy="873720"/>
          </a:xfrm>
          <a:prstGeom prst="roundRect">
            <a:avLst>
              <a:gd name="adj" fmla="val 10175"/>
            </a:avLst>
          </a:prstGeom>
          <a:solidFill>
            <a:srgbClr val="E8EFFB"/>
          </a:solidFill>
          <a:ln/>
        </p:spPr>
        <p:txBody>
          <a:bodyPr wrap="square" lIns="151762" tIns="126362" rIns="15364" bIns="100962"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Hosts SHOULD let the user approve or deny each call.</a:t>
            </a:r>
            <a:endParaRPr lang="en-US" sz="1600" dirty="0"/>
          </a:p>
        </p:txBody>
      </p:sp>
      <p:sp>
        <p:nvSpPr>
          <p:cNvPr id="6" name="Text 4"/>
          <p:cNvSpPr/>
          <p:nvPr/>
        </p:nvSpPr>
        <p:spPr>
          <a:xfrm>
            <a:off x="6019800" y="1762621"/>
            <a:ext cx="5359400" cy="2645966"/>
          </a:xfrm>
          <a:prstGeom prst="roundRect">
            <a:avLst>
              <a:gd name="adj" fmla="val 3840"/>
            </a:avLst>
          </a:prstGeom>
          <a:solidFill>
            <a:srgbClr val="1B2740"/>
          </a:solidFill>
          <a:ln/>
        </p:spPr>
        <p:txBody>
          <a:bodyPr wrap="square" lIns="198842" tIns="173442" rIns="51776" bIns="148042" rtlCol="0" anchor="t">
            <a:normAutofit/>
          </a:bodyPr>
          <a:lstStyle/>
          <a:p>
            <a:pPr marL="0" indent="0" algn="l">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 one entry from tools/list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"name": "add_note",</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"description": "Save a note…",</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"inputSchema": {"properties": {</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"paper_id": {"type": "string"},</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"note": {"type": "string"}</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a:t>
            </a:r>
            <a:endParaRPr lang="en-US" sz="1400" dirty="0"/>
          </a:p>
        </p:txBody>
      </p:sp>
      <p:sp>
        <p:nvSpPr>
          <p:cNvPr id="7" name="Shape 5"/>
          <p:cNvSpPr/>
          <p:nvPr/>
        </p:nvSpPr>
        <p:spPr>
          <a:xfrm>
            <a:off x="812800" y="4662587"/>
            <a:ext cx="10566400" cy="787400"/>
          </a:xfrm>
          <a:prstGeom prst="roundRect">
            <a:avLst>
              <a:gd name="adj" fmla="val 9677"/>
            </a:avLst>
          </a:prstGeom>
          <a:solidFill>
            <a:srgbClr val="EFECE4"/>
          </a:solidFill>
          <a:ln/>
        </p:spPr>
        <p:txBody>
          <a:bodyPr/>
          <a:lstStyle/>
          <a:p>
            <a:endParaRPr lang="en-US"/>
          </a:p>
        </p:txBody>
      </p:sp>
      <p:pic>
        <p:nvPicPr>
          <p:cNvPr id="8" name="Image 0" descr="Book"/>
          <p:cNvPicPr>
            <a:picLocks noChangeAspect="1"/>
          </p:cNvPicPr>
          <p:nvPr/>
        </p:nvPicPr>
        <p:blipFill>
          <a:blip r:embed="rId3"/>
          <a:srcRect/>
          <a:stretch/>
        </p:blipFill>
        <p:spPr>
          <a:xfrm>
            <a:off x="990600" y="4789587"/>
            <a:ext cx="254000" cy="254000"/>
          </a:xfrm>
          <a:prstGeom prst="rect">
            <a:avLst/>
          </a:prstGeom>
        </p:spPr>
      </p:pic>
      <p:sp>
        <p:nvSpPr>
          <p:cNvPr id="9" name="Text 6"/>
          <p:cNvSpPr/>
          <p:nvPr/>
        </p:nvSpPr>
        <p:spPr>
          <a:xfrm>
            <a:off x="1397000" y="4789587"/>
            <a:ext cx="7452389"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JSON Schema</a:t>
            </a:r>
            <a:r>
              <a:rPr lang="en-US" sz="1500" dirty="0">
                <a:solidFill>
                  <a:srgbClr val="14213D"/>
                </a:solidFill>
                <a:latin typeface="IBM Plex Sans" pitchFamily="34" charset="0"/>
                <a:ea typeface="IBM Plex Sans" pitchFamily="34" charset="-122"/>
                <a:cs typeface="IBM Plex Sans" pitchFamily="34" charset="-120"/>
              </a:rPr>
              <a:t> = a standard way to describe JSON data: field names, types, required.</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Annotation</a:t>
            </a:r>
            <a:r>
              <a:rPr lang="en-US" sz="1500" dirty="0">
                <a:solidFill>
                  <a:srgbClr val="14213D"/>
                </a:solidFill>
                <a:latin typeface="IBM Plex Sans" pitchFamily="34" charset="0"/>
                <a:ea typeface="IBM Plex Sans" pitchFamily="34" charset="-122"/>
                <a:cs typeface="IBM Plex Sans" pitchFamily="34" charset="-120"/>
              </a:rPr>
              <a:t> = an extra label on a tool. It is only a hint, not a promise.</a:t>
            </a:r>
            <a:endParaRPr lang="en-US" sz="1500" dirty="0"/>
          </a:p>
        </p:txBody>
      </p:sp>
      <p:sp>
        <p:nvSpPr>
          <p:cNvPr id="10" name="Text 7"/>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3 · RESOURCES AND TEMPLATES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Resources: data with an address</a:t>
            </a:r>
            <a:endParaRPr lang="en-US" sz="3200" dirty="0"/>
          </a:p>
        </p:txBody>
      </p:sp>
      <p:sp>
        <p:nvSpPr>
          <p:cNvPr id="4" name="Text 2"/>
          <p:cNvSpPr/>
          <p:nvPr/>
        </p:nvSpPr>
        <p:spPr>
          <a:xfrm>
            <a:off x="870458" y="1762621"/>
            <a:ext cx="4983988" cy="116324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resources/list</a:t>
            </a:r>
            <a:r>
              <a:rPr lang="en-US" sz="1600" dirty="0">
                <a:solidFill>
                  <a:srgbClr val="14213D"/>
                </a:solidFill>
                <a:latin typeface="IBM Plex Sans" pitchFamily="34" charset="0"/>
                <a:ea typeface="IBM Plex Sans" pitchFamily="34" charset="-122"/>
                <a:cs typeface="IBM Plex Sans" pitchFamily="34" charset="-120"/>
              </a:rPr>
              <a:t>: what exists</a:t>
            </a:r>
            <a:endParaRPr lang="en-US" sz="1600" dirty="0"/>
          </a:p>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resources/read</a:t>
            </a:r>
            <a:r>
              <a:rPr lang="en-US" sz="1600" dirty="0">
                <a:solidFill>
                  <a:srgbClr val="14213D"/>
                </a:solidFill>
                <a:latin typeface="IBM Plex Sans" pitchFamily="34" charset="0"/>
                <a:ea typeface="IBM Plex Sans" pitchFamily="34" charset="-122"/>
                <a:cs typeface="IBM Plex Sans" pitchFamily="34" charset="-120"/>
              </a:rPr>
              <a:t>: the contents</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Read, never run. The app decides what to load.</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Clients can subscribe to changes</a:t>
            </a:r>
            <a:endParaRPr lang="en-US" sz="1600" dirty="0"/>
          </a:p>
        </p:txBody>
      </p:sp>
      <p:sp>
        <p:nvSpPr>
          <p:cNvPr id="5" name="Text 3"/>
          <p:cNvSpPr/>
          <p:nvPr/>
        </p:nvSpPr>
        <p:spPr>
          <a:xfrm>
            <a:off x="812800" y="3078262"/>
            <a:ext cx="4902200" cy="873720"/>
          </a:xfrm>
          <a:prstGeom prst="roundRect">
            <a:avLst>
              <a:gd name="adj" fmla="val 10175"/>
            </a:avLst>
          </a:prstGeom>
          <a:solidFill>
            <a:srgbClr val="FDF1E6"/>
          </a:solidFill>
          <a:ln/>
        </p:spPr>
        <p:txBody>
          <a:bodyPr wrap="square" lIns="151762" tIns="126362" rIns="15364" bIns="100962"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Template:</a:t>
            </a:r>
            <a:r>
              <a:rPr lang="en-US" sz="1600" dirty="0">
                <a:solidFill>
                  <a:srgbClr val="14213D"/>
                </a:solidFill>
                <a:latin typeface="IBM Plex Sans" pitchFamily="34" charset="0"/>
                <a:ea typeface="IBM Plex Sans" pitchFamily="34" charset="-122"/>
                <a:cs typeface="IBM Plex Sans" pitchFamily="34" charset="-120"/>
              </a:rPr>
              <a:t> an address with a blank, e.g. papers://{paper_id}</a:t>
            </a:r>
            <a:endParaRPr lang="en-US" sz="1600" dirty="0"/>
          </a:p>
        </p:txBody>
      </p:sp>
      <p:sp>
        <p:nvSpPr>
          <p:cNvPr id="6" name="Text 4"/>
          <p:cNvSpPr/>
          <p:nvPr/>
        </p:nvSpPr>
        <p:spPr>
          <a:xfrm>
            <a:off x="6019800" y="1762621"/>
            <a:ext cx="5359400" cy="2645966"/>
          </a:xfrm>
          <a:prstGeom prst="roundRect">
            <a:avLst>
              <a:gd name="adj" fmla="val 3840"/>
            </a:avLst>
          </a:prstGeom>
          <a:solidFill>
            <a:srgbClr val="1B2740"/>
          </a:solidFill>
          <a:ln/>
        </p:spPr>
        <p:txBody>
          <a:bodyPr wrap="square" lIns="198842" tIns="173442" rIns="51776" bIns="148042" rtlCol="0" anchor="t">
            <a:normAutofit/>
          </a:bodyPr>
          <a:lstStyle/>
          <a:p>
            <a:pPr marL="0" indent="0" algn="l">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 resources/read</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{"uri": "papers://react"}</a:t>
            </a:r>
            <a:endParaRPr lang="en-US" sz="1400" dirty="0"/>
          </a:p>
          <a:p>
            <a:pPr marL="0" indent="0" algn="l">
              <a:lnSpc>
                <a:spcPts val="1960"/>
              </a:lnSpc>
              <a:buNone/>
            </a:pPr>
            <a:endParaRPr lang="en-US" sz="1400" dirty="0"/>
          </a:p>
          <a:p>
            <a:pPr marL="0" indent="0" algn="l">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 result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{"contents": [{</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"uri": "papers://react",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"mimeType": "application/json",</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"text": "{\"id\": \"react\", …}"</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a:t>
            </a:r>
            <a:endParaRPr lang="en-US" sz="1400" dirty="0"/>
          </a:p>
        </p:txBody>
      </p:sp>
      <p:sp>
        <p:nvSpPr>
          <p:cNvPr id="7" name="Shape 5"/>
          <p:cNvSpPr/>
          <p:nvPr/>
        </p:nvSpPr>
        <p:spPr>
          <a:xfrm>
            <a:off x="812800" y="4662587"/>
            <a:ext cx="10566400" cy="787400"/>
          </a:xfrm>
          <a:prstGeom prst="roundRect">
            <a:avLst>
              <a:gd name="adj" fmla="val 9677"/>
            </a:avLst>
          </a:prstGeom>
          <a:solidFill>
            <a:srgbClr val="EFECE4"/>
          </a:solidFill>
          <a:ln/>
        </p:spPr>
        <p:txBody>
          <a:bodyPr/>
          <a:lstStyle/>
          <a:p>
            <a:endParaRPr lang="en-US"/>
          </a:p>
        </p:txBody>
      </p:sp>
      <p:pic>
        <p:nvPicPr>
          <p:cNvPr id="8" name="Image 0" descr="Book"/>
          <p:cNvPicPr>
            <a:picLocks noChangeAspect="1"/>
          </p:cNvPicPr>
          <p:nvPr/>
        </p:nvPicPr>
        <p:blipFill>
          <a:blip r:embed="rId3"/>
          <a:srcRect/>
          <a:stretch/>
        </p:blipFill>
        <p:spPr>
          <a:xfrm>
            <a:off x="990600" y="4789587"/>
            <a:ext cx="254000" cy="254000"/>
          </a:xfrm>
          <a:prstGeom prst="rect">
            <a:avLst/>
          </a:prstGeom>
        </p:spPr>
      </p:pic>
      <p:sp>
        <p:nvSpPr>
          <p:cNvPr id="9" name="Text 6"/>
          <p:cNvSpPr/>
          <p:nvPr/>
        </p:nvSpPr>
        <p:spPr>
          <a:xfrm>
            <a:off x="1397000" y="4789587"/>
            <a:ext cx="66285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URI</a:t>
            </a:r>
            <a:r>
              <a:rPr lang="en-US" sz="1500" dirty="0">
                <a:solidFill>
                  <a:srgbClr val="14213D"/>
                </a:solidFill>
                <a:latin typeface="IBM Plex Sans" pitchFamily="34" charset="0"/>
                <a:ea typeface="IBM Plex Sans" pitchFamily="34" charset="-122"/>
                <a:cs typeface="IBM Plex Sans" pitchFamily="34" charset="-120"/>
              </a:rPr>
              <a:t> = an address for a piece of data, like a web link: papers://react</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MIME type</a:t>
            </a:r>
            <a:r>
              <a:rPr lang="en-US" sz="1500" dirty="0">
                <a:solidFill>
                  <a:srgbClr val="14213D"/>
                </a:solidFill>
                <a:latin typeface="IBM Plex Sans" pitchFamily="34" charset="0"/>
                <a:ea typeface="IBM Plex Sans" pitchFamily="34" charset="-122"/>
                <a:cs typeface="IBM Plex Sans" pitchFamily="34" charset="-120"/>
              </a:rPr>
              <a:t> = a label for the kind of data, like application/json or image/png.</a:t>
            </a:r>
            <a:endParaRPr lang="en-US" sz="1500" dirty="0"/>
          </a:p>
        </p:txBody>
      </p:sp>
      <p:sp>
        <p:nvSpPr>
          <p:cNvPr id="10" name="Text 7"/>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2E7D5B"/>
                </a:solidFill>
                <a:latin typeface="JetBrains Mono" pitchFamily="49" charset="0"/>
                <a:ea typeface="JetBrains Mono" pitchFamily="49" charset="-122"/>
                <a:cs typeface="JetBrains Mono" pitchFamily="49" charset="-120"/>
              </a:rPr>
              <a:t>3 · PROMPTS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Prompts: templates the user picks</a:t>
            </a:r>
            <a:endParaRPr lang="en-US" sz="3200" dirty="0"/>
          </a:p>
        </p:txBody>
      </p:sp>
      <p:sp>
        <p:nvSpPr>
          <p:cNvPr id="4" name="Text 2"/>
          <p:cNvSpPr/>
          <p:nvPr/>
        </p:nvSpPr>
        <p:spPr>
          <a:xfrm>
            <a:off x="870458" y="1762621"/>
            <a:ext cx="4983988" cy="1163241"/>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Written by the server, chosen by the user</a:t>
            </a:r>
            <a:endParaRPr lang="en-US" sz="1600" dirty="0"/>
          </a:p>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prompts/list</a:t>
            </a:r>
            <a:r>
              <a:rPr lang="en-US" sz="1600" dirty="0">
                <a:solidFill>
                  <a:srgbClr val="14213D"/>
                </a:solidFill>
                <a:latin typeface="IBM Plex Sans" pitchFamily="34" charset="0"/>
                <a:ea typeface="IBM Plex Sans" pitchFamily="34" charset="-122"/>
                <a:cs typeface="IBM Plex Sans" pitchFamily="34" charset="-120"/>
              </a:rPr>
              <a:t>: names and arguments</a:t>
            </a:r>
            <a:endParaRPr lang="en-US" sz="1600" dirty="0"/>
          </a:p>
          <a:p>
            <a:pPr marL="196342" indent="-196342" algn="l">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prompts/get</a:t>
            </a:r>
            <a:r>
              <a:rPr lang="en-US" sz="1600" dirty="0">
                <a:solidFill>
                  <a:srgbClr val="14213D"/>
                </a:solidFill>
                <a:latin typeface="IBM Plex Sans" pitchFamily="34" charset="0"/>
                <a:ea typeface="IBM Plex Sans" pitchFamily="34" charset="-122"/>
                <a:cs typeface="IBM Plex Sans" pitchFamily="34" charset="-120"/>
              </a:rPr>
              <a:t>: ready-made messages</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Can include resources, like a file</a:t>
            </a:r>
            <a:endParaRPr lang="en-US" sz="1600" dirty="0"/>
          </a:p>
        </p:txBody>
      </p:sp>
      <p:sp>
        <p:nvSpPr>
          <p:cNvPr id="5" name="Text 3"/>
          <p:cNvSpPr/>
          <p:nvPr/>
        </p:nvSpPr>
        <p:spPr>
          <a:xfrm>
            <a:off x="812800" y="3078262"/>
            <a:ext cx="4902200" cy="873720"/>
          </a:xfrm>
          <a:prstGeom prst="roundRect">
            <a:avLst>
              <a:gd name="adj" fmla="val 10175"/>
            </a:avLst>
          </a:prstGeom>
          <a:solidFill>
            <a:srgbClr val="E6F2EC"/>
          </a:solidFill>
          <a:ln/>
        </p:spPr>
        <p:txBody>
          <a:bodyPr wrap="square" lIns="151762" tIns="126362" rIns="15364" bIns="100962"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Example:</a:t>
            </a:r>
            <a:r>
              <a:rPr lang="en-US" sz="1600" dirty="0">
                <a:solidFill>
                  <a:srgbClr val="14213D"/>
                </a:solidFill>
                <a:latin typeface="IBM Plex Sans" pitchFamily="34" charset="0"/>
                <a:ea typeface="IBM Plex Sans" pitchFamily="34" charset="-122"/>
                <a:cs typeface="IBM Plex Sans" pitchFamily="34" charset="-120"/>
              </a:rPr>
              <a:t> the user types</a:t>
            </a:r>
            <a:endParaRPr lang="en-US" sz="1600" dirty="0"/>
          </a:p>
          <a:p>
            <a:pPr marL="0" indent="0" algn="l">
              <a:lnSpc>
                <a:spcPts val="2240"/>
              </a:lnSpc>
              <a:buNone/>
            </a:pPr>
            <a:r>
              <a:rPr lang="en-US" sz="1600" dirty="0">
                <a:solidFill>
                  <a:srgbClr val="2E7D5B"/>
                </a:solidFill>
                <a:latin typeface="IBM Plex Sans" pitchFamily="34" charset="0"/>
                <a:ea typeface="IBM Plex Sans" pitchFamily="34" charset="-122"/>
                <a:cs typeface="IBM Plex Sans" pitchFamily="34" charset="-120"/>
              </a:rPr>
              <a:t>/review_paper rag</a:t>
            </a:r>
            <a:endParaRPr lang="en-US" sz="1600" dirty="0"/>
          </a:p>
        </p:txBody>
      </p:sp>
      <p:sp>
        <p:nvSpPr>
          <p:cNvPr id="6" name="Text 4"/>
          <p:cNvSpPr/>
          <p:nvPr/>
        </p:nvSpPr>
        <p:spPr>
          <a:xfrm>
            <a:off x="6019800" y="1762621"/>
            <a:ext cx="5359400" cy="2645966"/>
          </a:xfrm>
          <a:prstGeom prst="roundRect">
            <a:avLst>
              <a:gd name="adj" fmla="val 3840"/>
            </a:avLst>
          </a:prstGeom>
          <a:solidFill>
            <a:srgbClr val="1B2740"/>
          </a:solidFill>
          <a:ln/>
        </p:spPr>
        <p:txBody>
          <a:bodyPr wrap="square" lIns="198842" tIns="173442" rIns="51776" bIns="148042" rtlCol="0" anchor="t">
            <a:normAutofit/>
          </a:bodyPr>
          <a:lstStyle/>
          <a:p>
            <a:pPr marL="0" indent="0" algn="l">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 result of prompts/get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{"messages": [{</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"role": "user",</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"content": {"type": "text",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"text": "You are a discussant</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in a graduate seminar.</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Critique 'Retrieval-</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     Augmented Generation…'"}</a:t>
            </a:r>
            <a:endParaRPr lang="en-US" sz="1400" dirty="0"/>
          </a:p>
          <a:p>
            <a:pPr marL="0" indent="0" algn="l">
              <a:lnSpc>
                <a:spcPts val="1960"/>
              </a:lnSpc>
              <a:buNone/>
            </a:pPr>
            <a:r>
              <a:rPr lang="en-US" sz="1400" dirty="0">
                <a:solidFill>
                  <a:srgbClr val="E6EDF7"/>
                </a:solidFill>
                <a:latin typeface="JetBrains Mono" pitchFamily="49" charset="0"/>
                <a:ea typeface="JetBrains Mono" pitchFamily="49" charset="-122"/>
                <a:cs typeface="JetBrains Mono" pitchFamily="49" charset="-120"/>
              </a:rPr>
              <a:t>}]}</a:t>
            </a:r>
            <a:endParaRPr lang="en-US" sz="1400" dirty="0"/>
          </a:p>
        </p:txBody>
      </p:sp>
      <p:sp>
        <p:nvSpPr>
          <p:cNvPr id="7" name="Shape 5"/>
          <p:cNvSpPr/>
          <p:nvPr/>
        </p:nvSpPr>
        <p:spPr>
          <a:xfrm>
            <a:off x="812800" y="4662587"/>
            <a:ext cx="10566400" cy="787400"/>
          </a:xfrm>
          <a:prstGeom prst="roundRect">
            <a:avLst>
              <a:gd name="adj" fmla="val 9677"/>
            </a:avLst>
          </a:prstGeom>
          <a:solidFill>
            <a:srgbClr val="EFECE4"/>
          </a:solidFill>
          <a:ln/>
        </p:spPr>
        <p:txBody>
          <a:bodyPr/>
          <a:lstStyle/>
          <a:p>
            <a:endParaRPr lang="en-US"/>
          </a:p>
        </p:txBody>
      </p:sp>
      <p:pic>
        <p:nvPicPr>
          <p:cNvPr id="8" name="Image 0" descr="Book"/>
          <p:cNvPicPr>
            <a:picLocks noChangeAspect="1"/>
          </p:cNvPicPr>
          <p:nvPr/>
        </p:nvPicPr>
        <p:blipFill>
          <a:blip r:embed="rId3"/>
          <a:srcRect/>
          <a:stretch/>
        </p:blipFill>
        <p:spPr>
          <a:xfrm>
            <a:off x="990600" y="4789587"/>
            <a:ext cx="254000" cy="254000"/>
          </a:xfrm>
          <a:prstGeom prst="rect">
            <a:avLst/>
          </a:prstGeom>
        </p:spPr>
      </p:pic>
      <p:sp>
        <p:nvSpPr>
          <p:cNvPr id="9" name="Text 6"/>
          <p:cNvSpPr/>
          <p:nvPr/>
        </p:nvSpPr>
        <p:spPr>
          <a:xfrm>
            <a:off x="1397000" y="4789587"/>
            <a:ext cx="67076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Slash command</a:t>
            </a:r>
            <a:r>
              <a:rPr lang="en-US" sz="1500" dirty="0">
                <a:solidFill>
                  <a:srgbClr val="14213D"/>
                </a:solidFill>
                <a:latin typeface="IBM Plex Sans" pitchFamily="34" charset="0"/>
                <a:ea typeface="IBM Plex Sans" pitchFamily="34" charset="-122"/>
                <a:cs typeface="IBM Plex Sans" pitchFamily="34" charset="-120"/>
              </a:rPr>
              <a:t> = type / and a name in the chat box to run a saved shortcut.</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Argument</a:t>
            </a:r>
            <a:r>
              <a:rPr lang="en-US" sz="1500" dirty="0">
                <a:solidFill>
                  <a:srgbClr val="14213D"/>
                </a:solidFill>
                <a:latin typeface="IBM Plex Sans" pitchFamily="34" charset="0"/>
                <a:ea typeface="IBM Plex Sans" pitchFamily="34" charset="-122"/>
                <a:cs typeface="IBM Plex Sans" pitchFamily="34" charset="-120"/>
              </a:rPr>
              <a:t> = a blank the user fills in, like which paper to review.</a:t>
            </a:r>
            <a:endParaRPr lang="en-US" sz="1500" dirty="0"/>
          </a:p>
        </p:txBody>
      </p:sp>
      <p:sp>
        <p:nvSpPr>
          <p:cNvPr id="10" name="Text 7"/>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4 · TOOL AND RESOURCE DISCOVERY</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The client asks at runtime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2889250"/>
        </p:xfrm>
        <a:graphic>
          <a:graphicData uri="http://schemas.openxmlformats.org/drawingml/2006/table">
            <a:tbl>
              <a:tblPr/>
              <a:tblGrid>
                <a:gridCol w="4010406">
                  <a:extLst>
                    <a:ext uri="{9D8B030D-6E8A-4147-A177-3AD203B41FA5}">
                      <a16:colId xmlns:a16="http://schemas.microsoft.com/office/drawing/2014/main" val="20000"/>
                    </a:ext>
                  </a:extLst>
                </a:gridCol>
                <a:gridCol w="6543294">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Request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Server answers with</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server/discover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Versions, capabilities, server name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tools/list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 names, descriptions, schemas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resources/list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Resource addresses and types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resources/templates/list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Address templates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prompts/list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Prompt names and arguments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subscriptions/listen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Updates when something changes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812800" y="4918571"/>
            <a:ext cx="10566400" cy="787400"/>
          </a:xfrm>
          <a:prstGeom prst="roundRect">
            <a:avLst>
              <a:gd name="adj" fmla="val 9677"/>
            </a:avLst>
          </a:prstGeom>
          <a:solidFill>
            <a:srgbClr val="EFECE4"/>
          </a:solidFill>
          <a:ln/>
        </p:spPr>
        <p:txBody>
          <a:bodyPr/>
          <a:lstStyle/>
          <a:p>
            <a:endParaRPr lang="en-US"/>
          </a:p>
        </p:txBody>
      </p:sp>
      <p:pic>
        <p:nvPicPr>
          <p:cNvPr id="6" name="Image 0" descr="Book"/>
          <p:cNvPicPr>
            <a:picLocks noChangeAspect="1"/>
          </p:cNvPicPr>
          <p:nvPr/>
        </p:nvPicPr>
        <p:blipFill>
          <a:blip r:embed="rId3"/>
          <a:srcRect/>
          <a:stretch/>
        </p:blipFill>
        <p:spPr>
          <a:xfrm>
            <a:off x="990600" y="5045571"/>
            <a:ext cx="254000" cy="254000"/>
          </a:xfrm>
          <a:prstGeom prst="rect">
            <a:avLst/>
          </a:prstGeom>
        </p:spPr>
      </p:pic>
      <p:sp>
        <p:nvSpPr>
          <p:cNvPr id="7" name="Text 3"/>
          <p:cNvSpPr/>
          <p:nvPr/>
        </p:nvSpPr>
        <p:spPr>
          <a:xfrm>
            <a:off x="1397000" y="5045571"/>
            <a:ext cx="71871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Runtime</a:t>
            </a:r>
            <a:r>
              <a:rPr lang="en-US" sz="1500" dirty="0">
                <a:solidFill>
                  <a:srgbClr val="14213D"/>
                </a:solidFill>
                <a:latin typeface="IBM Plex Sans" pitchFamily="34" charset="0"/>
                <a:ea typeface="IBM Plex Sans" pitchFamily="34" charset="-122"/>
                <a:cs typeface="IBM Plex Sans" pitchFamily="34" charset="-120"/>
              </a:rPr>
              <a:t> = while the app is running, not when it was written.</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Capabilities</a:t>
            </a:r>
            <a:r>
              <a:rPr lang="en-US" sz="1500" dirty="0">
                <a:solidFill>
                  <a:srgbClr val="14213D"/>
                </a:solidFill>
                <a:latin typeface="IBM Plex Sans" pitchFamily="34" charset="0"/>
                <a:ea typeface="IBM Plex Sans" pitchFamily="34" charset="-122"/>
                <a:cs typeface="IBM Plex Sans" pitchFamily="34" charset="-120"/>
              </a:rPr>
              <a:t> = the features each side supports, so neither asks for the impossible.</a:t>
            </a:r>
            <a:endParaRPr lang="en-US" sz="1500" dirty="0"/>
          </a:p>
        </p:txBody>
      </p:sp>
      <p:sp>
        <p:nvSpPr>
          <p:cNvPr id="8" name="Text 4"/>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4 · COMMUNICATION</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One tool call, end to end</a:t>
            </a:r>
            <a:endParaRPr lang="en-US" sz="3200" dirty="0"/>
          </a:p>
        </p:txBody>
      </p:sp>
      <p:sp>
        <p:nvSpPr>
          <p:cNvPr id="4" name="Shape 2"/>
          <p:cNvSpPr/>
          <p:nvPr/>
        </p:nvSpPr>
        <p:spPr>
          <a:xfrm>
            <a:off x="815975" y="1765796"/>
            <a:ext cx="3414117" cy="961231"/>
          </a:xfrm>
          <a:prstGeom prst="roundRect">
            <a:avLst>
              <a:gd name="adj" fmla="val 10239"/>
            </a:avLst>
          </a:prstGeom>
          <a:solidFill>
            <a:srgbClr val="FFFEFB"/>
          </a:solidFill>
          <a:ln w="6350">
            <a:solidFill>
              <a:srgbClr val="E2DED3"/>
            </a:solidFill>
            <a:prstDash val="solid"/>
          </a:ln>
        </p:spPr>
        <p:txBody>
          <a:bodyPr/>
          <a:lstStyle/>
          <a:p>
            <a:endParaRPr lang="en-US"/>
          </a:p>
        </p:txBody>
      </p:sp>
      <p:sp>
        <p:nvSpPr>
          <p:cNvPr id="5" name="Text 3"/>
          <p:cNvSpPr/>
          <p:nvPr/>
        </p:nvSpPr>
        <p:spPr>
          <a:xfrm>
            <a:off x="996950" y="1946771"/>
            <a:ext cx="314373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5A12"/>
                </a:solidFill>
                <a:latin typeface="JetBrains Mono" pitchFamily="49" charset="0"/>
                <a:ea typeface="JetBrains Mono" pitchFamily="49" charset="-122"/>
                <a:cs typeface="JetBrains Mono" pitchFamily="49" charset="-120"/>
              </a:rPr>
              <a:t>1 · User → Host</a:t>
            </a:r>
            <a:endParaRPr lang="en-US" sz="1400" dirty="0"/>
          </a:p>
        </p:txBody>
      </p:sp>
      <p:sp>
        <p:nvSpPr>
          <p:cNvPr id="6" name="Text 4"/>
          <p:cNvSpPr/>
          <p:nvPr/>
        </p:nvSpPr>
        <p:spPr>
          <a:xfrm>
            <a:off x="996950" y="2271812"/>
            <a:ext cx="3143732"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213D"/>
                </a:solidFill>
                <a:latin typeface="IBM Plex Sans" pitchFamily="34" charset="0"/>
                <a:ea typeface="IBM Plex Sans" pitchFamily="34" charset="-122"/>
                <a:cs typeface="IBM Plex Sans" pitchFamily="34" charset="-120"/>
              </a:rPr>
              <a:t>"Find papers on tool use."</a:t>
            </a:r>
            <a:endParaRPr lang="en-US" sz="1600" dirty="0"/>
          </a:p>
        </p:txBody>
      </p:sp>
      <p:sp>
        <p:nvSpPr>
          <p:cNvPr id="7" name="Shape 5"/>
          <p:cNvSpPr/>
          <p:nvPr/>
        </p:nvSpPr>
        <p:spPr>
          <a:xfrm>
            <a:off x="4388842" y="1765796"/>
            <a:ext cx="3414216" cy="961231"/>
          </a:xfrm>
          <a:prstGeom prst="roundRect">
            <a:avLst>
              <a:gd name="adj" fmla="val 10239"/>
            </a:avLst>
          </a:prstGeom>
          <a:solidFill>
            <a:srgbClr val="FFFEFB"/>
          </a:solidFill>
          <a:ln w="6350">
            <a:solidFill>
              <a:srgbClr val="E2DED3"/>
            </a:solidFill>
            <a:prstDash val="solid"/>
          </a:ln>
        </p:spPr>
        <p:txBody>
          <a:bodyPr/>
          <a:lstStyle/>
          <a:p>
            <a:endParaRPr lang="en-US"/>
          </a:p>
        </p:txBody>
      </p:sp>
      <p:sp>
        <p:nvSpPr>
          <p:cNvPr id="8" name="Text 6"/>
          <p:cNvSpPr/>
          <p:nvPr/>
        </p:nvSpPr>
        <p:spPr>
          <a:xfrm>
            <a:off x="4569817" y="1946771"/>
            <a:ext cx="314383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5A12"/>
                </a:solidFill>
                <a:latin typeface="JetBrains Mono" pitchFamily="49" charset="0"/>
                <a:ea typeface="JetBrains Mono" pitchFamily="49" charset="-122"/>
                <a:cs typeface="JetBrains Mono" pitchFamily="49" charset="-120"/>
              </a:rPr>
              <a:t>2 · Host → LLM</a:t>
            </a:r>
            <a:endParaRPr lang="en-US" sz="1400" dirty="0"/>
          </a:p>
        </p:txBody>
      </p:sp>
      <p:sp>
        <p:nvSpPr>
          <p:cNvPr id="9" name="Text 7"/>
          <p:cNvSpPr/>
          <p:nvPr/>
        </p:nvSpPr>
        <p:spPr>
          <a:xfrm>
            <a:off x="4569817" y="2271812"/>
            <a:ext cx="3143834"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213D"/>
                </a:solidFill>
                <a:latin typeface="IBM Plex Sans" pitchFamily="34" charset="0"/>
                <a:ea typeface="IBM Plex Sans" pitchFamily="34" charset="-122"/>
                <a:cs typeface="IBM Plex Sans" pitchFamily="34" charset="-120"/>
              </a:rPr>
              <a:t>Chat + the tool list</a:t>
            </a:r>
            <a:endParaRPr lang="en-US" sz="1600" dirty="0"/>
          </a:p>
        </p:txBody>
      </p:sp>
      <p:sp>
        <p:nvSpPr>
          <p:cNvPr id="10" name="Shape 8"/>
          <p:cNvSpPr/>
          <p:nvPr/>
        </p:nvSpPr>
        <p:spPr>
          <a:xfrm>
            <a:off x="7961809" y="1765796"/>
            <a:ext cx="3414216" cy="961231"/>
          </a:xfrm>
          <a:prstGeom prst="roundRect">
            <a:avLst>
              <a:gd name="adj" fmla="val 10239"/>
            </a:avLst>
          </a:prstGeom>
          <a:solidFill>
            <a:srgbClr val="FFFEFB"/>
          </a:solidFill>
          <a:ln w="6350">
            <a:solidFill>
              <a:srgbClr val="E2DED3"/>
            </a:solidFill>
            <a:prstDash val="solid"/>
          </a:ln>
        </p:spPr>
        <p:txBody>
          <a:bodyPr/>
          <a:lstStyle/>
          <a:p>
            <a:endParaRPr lang="en-US"/>
          </a:p>
        </p:txBody>
      </p:sp>
      <p:sp>
        <p:nvSpPr>
          <p:cNvPr id="11" name="Text 9"/>
          <p:cNvSpPr/>
          <p:nvPr/>
        </p:nvSpPr>
        <p:spPr>
          <a:xfrm>
            <a:off x="8142784" y="1946771"/>
            <a:ext cx="314383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5A12"/>
                </a:solidFill>
                <a:latin typeface="JetBrains Mono" pitchFamily="49" charset="0"/>
                <a:ea typeface="JetBrains Mono" pitchFamily="49" charset="-122"/>
                <a:cs typeface="JetBrains Mono" pitchFamily="49" charset="-120"/>
              </a:rPr>
              <a:t>3 · LLM → Host</a:t>
            </a:r>
            <a:endParaRPr lang="en-US" sz="1400" dirty="0"/>
          </a:p>
        </p:txBody>
      </p:sp>
      <p:sp>
        <p:nvSpPr>
          <p:cNvPr id="12" name="Text 10"/>
          <p:cNvSpPr/>
          <p:nvPr/>
        </p:nvSpPr>
        <p:spPr>
          <a:xfrm>
            <a:off x="8142784" y="2271812"/>
            <a:ext cx="3143834"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213D"/>
                </a:solidFill>
                <a:latin typeface="IBM Plex Sans" pitchFamily="34" charset="0"/>
                <a:ea typeface="IBM Plex Sans" pitchFamily="34" charset="-122"/>
                <a:cs typeface="IBM Plex Sans" pitchFamily="34" charset="-120"/>
              </a:rPr>
              <a:t>"Call search_papers"</a:t>
            </a:r>
            <a:endParaRPr lang="en-US" sz="1600" dirty="0"/>
          </a:p>
        </p:txBody>
      </p:sp>
      <p:sp>
        <p:nvSpPr>
          <p:cNvPr id="13" name="Shape 11"/>
          <p:cNvSpPr/>
          <p:nvPr/>
        </p:nvSpPr>
        <p:spPr>
          <a:xfrm>
            <a:off x="819150" y="2888952"/>
            <a:ext cx="3407767" cy="967581"/>
          </a:xfrm>
          <a:prstGeom prst="roundRect">
            <a:avLst>
              <a:gd name="adj" fmla="val 9844"/>
            </a:avLst>
          </a:prstGeom>
          <a:solidFill>
            <a:srgbClr val="E8EFFB"/>
          </a:solidFill>
          <a:ln w="12700">
            <a:solidFill>
              <a:srgbClr val="2563C9"/>
            </a:solidFill>
            <a:prstDash val="solid"/>
          </a:ln>
        </p:spPr>
        <p:txBody>
          <a:bodyPr/>
          <a:lstStyle/>
          <a:p>
            <a:endParaRPr lang="en-US"/>
          </a:p>
        </p:txBody>
      </p:sp>
      <p:sp>
        <p:nvSpPr>
          <p:cNvPr id="14" name="Text 12"/>
          <p:cNvSpPr/>
          <p:nvPr/>
        </p:nvSpPr>
        <p:spPr>
          <a:xfrm>
            <a:off x="1003300" y="3073102"/>
            <a:ext cx="313065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563C9"/>
                </a:solidFill>
                <a:latin typeface="JetBrains Mono" pitchFamily="49" charset="0"/>
                <a:ea typeface="JetBrains Mono" pitchFamily="49" charset="-122"/>
                <a:cs typeface="JetBrains Mono" pitchFamily="49" charset="-120"/>
              </a:rPr>
              <a:t>4 · Client → Server</a:t>
            </a:r>
            <a:endParaRPr lang="en-US" sz="1400" dirty="0"/>
          </a:p>
        </p:txBody>
      </p:sp>
      <p:sp>
        <p:nvSpPr>
          <p:cNvPr id="15" name="Text 13"/>
          <p:cNvSpPr/>
          <p:nvPr/>
        </p:nvSpPr>
        <p:spPr>
          <a:xfrm>
            <a:off x="1003300" y="3398143"/>
            <a:ext cx="3130651"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213D"/>
                </a:solidFill>
                <a:latin typeface="IBM Plex Sans" pitchFamily="34" charset="0"/>
                <a:ea typeface="IBM Plex Sans" pitchFamily="34" charset="-122"/>
                <a:cs typeface="IBM Plex Sans" pitchFamily="34" charset="-120"/>
              </a:rPr>
              <a:t>tools/call request</a:t>
            </a:r>
            <a:endParaRPr lang="en-US" sz="1600" dirty="0"/>
          </a:p>
        </p:txBody>
      </p:sp>
      <p:sp>
        <p:nvSpPr>
          <p:cNvPr id="16" name="Shape 14"/>
          <p:cNvSpPr/>
          <p:nvPr/>
        </p:nvSpPr>
        <p:spPr>
          <a:xfrm>
            <a:off x="4392017" y="2888952"/>
            <a:ext cx="3407866" cy="967581"/>
          </a:xfrm>
          <a:prstGeom prst="roundRect">
            <a:avLst>
              <a:gd name="adj" fmla="val 9844"/>
            </a:avLst>
          </a:prstGeom>
          <a:solidFill>
            <a:srgbClr val="E8EFFB"/>
          </a:solidFill>
          <a:ln w="12700">
            <a:solidFill>
              <a:srgbClr val="2563C9"/>
            </a:solidFill>
            <a:prstDash val="solid"/>
          </a:ln>
        </p:spPr>
        <p:txBody>
          <a:bodyPr/>
          <a:lstStyle/>
          <a:p>
            <a:endParaRPr lang="en-US"/>
          </a:p>
        </p:txBody>
      </p:sp>
      <p:sp>
        <p:nvSpPr>
          <p:cNvPr id="17" name="Text 15"/>
          <p:cNvSpPr/>
          <p:nvPr/>
        </p:nvSpPr>
        <p:spPr>
          <a:xfrm>
            <a:off x="4576167" y="3073102"/>
            <a:ext cx="313075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563C9"/>
                </a:solidFill>
                <a:latin typeface="JetBrains Mono" pitchFamily="49" charset="0"/>
                <a:ea typeface="JetBrains Mono" pitchFamily="49" charset="-122"/>
                <a:cs typeface="JetBrains Mono" pitchFamily="49" charset="-120"/>
              </a:rPr>
              <a:t>5 · Server → Client</a:t>
            </a:r>
            <a:endParaRPr lang="en-US" sz="1400" dirty="0"/>
          </a:p>
        </p:txBody>
      </p:sp>
      <p:sp>
        <p:nvSpPr>
          <p:cNvPr id="18" name="Text 16"/>
          <p:cNvSpPr/>
          <p:nvPr/>
        </p:nvSpPr>
        <p:spPr>
          <a:xfrm>
            <a:off x="4576167" y="3398143"/>
            <a:ext cx="3130753"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213D"/>
                </a:solidFill>
                <a:latin typeface="IBM Plex Sans" pitchFamily="34" charset="0"/>
                <a:ea typeface="IBM Plex Sans" pitchFamily="34" charset="-122"/>
                <a:cs typeface="IBM Plex Sans" pitchFamily="34" charset="-120"/>
              </a:rPr>
              <a:t>Result (same id)</a:t>
            </a:r>
            <a:endParaRPr lang="en-US" sz="1600" dirty="0"/>
          </a:p>
        </p:txBody>
      </p:sp>
      <p:sp>
        <p:nvSpPr>
          <p:cNvPr id="19" name="Shape 17"/>
          <p:cNvSpPr/>
          <p:nvPr/>
        </p:nvSpPr>
        <p:spPr>
          <a:xfrm>
            <a:off x="7961809" y="2885777"/>
            <a:ext cx="3414216" cy="973931"/>
          </a:xfrm>
          <a:prstGeom prst="roundRect">
            <a:avLst>
              <a:gd name="adj" fmla="val 10106"/>
            </a:avLst>
          </a:prstGeom>
          <a:solidFill>
            <a:srgbClr val="FFFEFB"/>
          </a:solidFill>
          <a:ln w="6350">
            <a:solidFill>
              <a:srgbClr val="E2DED3"/>
            </a:solidFill>
            <a:prstDash val="solid"/>
          </a:ln>
        </p:spPr>
        <p:txBody>
          <a:bodyPr/>
          <a:lstStyle/>
          <a:p>
            <a:endParaRPr lang="en-US"/>
          </a:p>
        </p:txBody>
      </p:sp>
      <p:sp>
        <p:nvSpPr>
          <p:cNvPr id="20" name="Text 18"/>
          <p:cNvSpPr/>
          <p:nvPr/>
        </p:nvSpPr>
        <p:spPr>
          <a:xfrm>
            <a:off x="8142784" y="3066752"/>
            <a:ext cx="314383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5A12"/>
                </a:solidFill>
                <a:latin typeface="JetBrains Mono" pitchFamily="49" charset="0"/>
                <a:ea typeface="JetBrains Mono" pitchFamily="49" charset="-122"/>
                <a:cs typeface="JetBrains Mono" pitchFamily="49" charset="-120"/>
              </a:rPr>
              <a:t>6 · Host → LLM</a:t>
            </a:r>
            <a:endParaRPr lang="en-US" sz="1400" dirty="0"/>
          </a:p>
        </p:txBody>
      </p:sp>
      <p:sp>
        <p:nvSpPr>
          <p:cNvPr id="21" name="Text 19"/>
          <p:cNvSpPr/>
          <p:nvPr/>
        </p:nvSpPr>
        <p:spPr>
          <a:xfrm>
            <a:off x="8142784" y="3391793"/>
            <a:ext cx="3143834"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213D"/>
                </a:solidFill>
                <a:latin typeface="IBM Plex Sans" pitchFamily="34" charset="0"/>
                <a:ea typeface="IBM Plex Sans" pitchFamily="34" charset="-122"/>
                <a:cs typeface="IBM Plex Sans" pitchFamily="34" charset="-120"/>
              </a:rPr>
              <a:t>Result added; LLM answers</a:t>
            </a:r>
            <a:endParaRPr lang="en-US" sz="1600" dirty="0"/>
          </a:p>
        </p:txBody>
      </p:sp>
      <p:sp>
        <p:nvSpPr>
          <p:cNvPr id="22" name="Shape 20"/>
          <p:cNvSpPr/>
          <p:nvPr/>
        </p:nvSpPr>
        <p:spPr>
          <a:xfrm>
            <a:off x="812800" y="4116884"/>
            <a:ext cx="10566400" cy="1054100"/>
          </a:xfrm>
          <a:prstGeom prst="roundRect">
            <a:avLst>
              <a:gd name="adj" fmla="val 7229"/>
            </a:avLst>
          </a:prstGeom>
          <a:solidFill>
            <a:srgbClr val="EFECE4"/>
          </a:solidFill>
          <a:ln/>
        </p:spPr>
        <p:txBody>
          <a:bodyPr/>
          <a:lstStyle/>
          <a:p>
            <a:endParaRPr lang="en-US"/>
          </a:p>
        </p:txBody>
      </p:sp>
      <p:pic>
        <p:nvPicPr>
          <p:cNvPr id="23" name="Image 0" descr="Book"/>
          <p:cNvPicPr>
            <a:picLocks noChangeAspect="1"/>
          </p:cNvPicPr>
          <p:nvPr/>
        </p:nvPicPr>
        <p:blipFill>
          <a:blip r:embed="rId3"/>
          <a:srcRect/>
          <a:stretch/>
        </p:blipFill>
        <p:spPr>
          <a:xfrm>
            <a:off x="990600" y="4243884"/>
            <a:ext cx="254000" cy="254000"/>
          </a:xfrm>
          <a:prstGeom prst="rect">
            <a:avLst/>
          </a:prstGeom>
        </p:spPr>
      </p:pic>
      <p:sp>
        <p:nvSpPr>
          <p:cNvPr id="24" name="Text 21"/>
          <p:cNvSpPr/>
          <p:nvPr/>
        </p:nvSpPr>
        <p:spPr>
          <a:xfrm>
            <a:off x="1397000" y="4243884"/>
            <a:ext cx="738534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Only the </a:t>
            </a:r>
            <a:r>
              <a:rPr lang="en-US" sz="1500" b="1" dirty="0">
                <a:solidFill>
                  <a:srgbClr val="2563C9"/>
                </a:solidFill>
                <a:latin typeface="IBM Plex Sans" pitchFamily="34" charset="0"/>
                <a:ea typeface="IBM Plex Sans" pitchFamily="34" charset="-122"/>
                <a:cs typeface="IBM Plex Sans" pitchFamily="34" charset="-120"/>
              </a:rPr>
              <a:t>blue steps</a:t>
            </a:r>
            <a:r>
              <a:rPr lang="en-US" sz="1500" dirty="0">
                <a:solidFill>
                  <a:srgbClr val="14213D"/>
                </a:solidFill>
                <a:latin typeface="IBM Plex Sans" pitchFamily="34" charset="0"/>
                <a:ea typeface="IBM Plex Sans" pitchFamily="34" charset="-122"/>
                <a:cs typeface="IBM Plex Sans" pitchFamily="34" charset="-120"/>
              </a:rPr>
              <a:t> are MCP. The rest is the host and its model.</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Request</a:t>
            </a:r>
            <a:r>
              <a:rPr lang="en-US" sz="1500" dirty="0">
                <a:solidFill>
                  <a:srgbClr val="14213D"/>
                </a:solidFill>
                <a:latin typeface="IBM Plex Sans" pitchFamily="34" charset="0"/>
                <a:ea typeface="IBM Plex Sans" pitchFamily="34" charset="-122"/>
                <a:cs typeface="IBM Plex Sans" pitchFamily="34" charset="-120"/>
              </a:rPr>
              <a:t> = asks for something and waits; it has an id. </a:t>
            </a:r>
            <a:r>
              <a:rPr lang="en-US" sz="1500" b="1" dirty="0">
                <a:solidFill>
                  <a:srgbClr val="14213D"/>
                </a:solidFill>
                <a:latin typeface="IBM Plex Sans" pitchFamily="34" charset="0"/>
                <a:ea typeface="IBM Plex Sans" pitchFamily="34" charset="-122"/>
                <a:cs typeface="IBM Plex Sans" pitchFamily="34" charset="-120"/>
              </a:rPr>
              <a:t>Response</a:t>
            </a:r>
            <a:r>
              <a:rPr lang="en-US" sz="1500" dirty="0">
                <a:solidFill>
                  <a:srgbClr val="14213D"/>
                </a:solidFill>
                <a:latin typeface="IBM Plex Sans" pitchFamily="34" charset="0"/>
                <a:ea typeface="IBM Plex Sans" pitchFamily="34" charset="-122"/>
                <a:cs typeface="IBM Plex Sans" pitchFamily="34" charset="-120"/>
              </a:rPr>
              <a:t> = the reply, same id.</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Notification</a:t>
            </a:r>
            <a:r>
              <a:rPr lang="en-US" sz="1500" dirty="0">
                <a:solidFill>
                  <a:srgbClr val="14213D"/>
                </a:solidFill>
                <a:latin typeface="IBM Plex Sans" pitchFamily="34" charset="0"/>
                <a:ea typeface="IBM Plex Sans" pitchFamily="34" charset="-122"/>
                <a:cs typeface="IBM Plex Sans" pitchFamily="34" charset="-120"/>
              </a:rPr>
              <a:t> = a one-way message, like a progress update. No reply.</a:t>
            </a:r>
            <a:endParaRPr lang="en-US" sz="1500" dirty="0"/>
          </a:p>
        </p:txBody>
      </p:sp>
      <p:sp>
        <p:nvSpPr>
          <p:cNvPr id="25" name="Text 22"/>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4 · TRANSPORT</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Two standard transports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2063750"/>
        </p:xfrm>
        <a:graphic>
          <a:graphicData uri="http://schemas.openxmlformats.org/drawingml/2006/table">
            <a:tbl>
              <a:tblPr/>
              <a:tblGrid>
                <a:gridCol w="211074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412750">
                <a:tc>
                  <a:txBody>
                    <a:bodyPr/>
                    <a:lstStyle/>
                    <a:p>
                      <a:pPr marL="0" indent="0">
                        <a:lnSpc>
                          <a:spcPts val="2100"/>
                        </a:lnSpc>
                        <a:buNone/>
                      </a:pP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stdio (local pipes)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Streamable HTTP (web)</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Runs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local program the host starts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remote service at one URL</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Format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One JSON message per line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One web request per message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Login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Keys in environment variables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OAuth token (a temporary pass)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Used for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Files, git, local databases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GitHub, Sentry, Notion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5975" y="4096246"/>
            <a:ext cx="10560050" cy="595610"/>
          </a:xfrm>
          <a:prstGeom prst="roundRect">
            <a:avLst>
              <a:gd name="adj" fmla="val 12261"/>
            </a:avLst>
          </a:prstGeom>
          <a:solidFill>
            <a:srgbClr val="FFFEFB"/>
          </a:solidFill>
          <a:ln w="6350">
            <a:solidFill>
              <a:srgbClr val="E2DED3"/>
            </a:solidFill>
            <a:prstDash val="solid"/>
          </a:ln>
        </p:spPr>
        <p:txBody>
          <a:bodyPr wrap="square" lIns="184987" tIns="134187" rIns="0" bIns="108787"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New in 2026:</a:t>
            </a:r>
            <a:r>
              <a:rPr lang="en-US" sz="1600" dirty="0">
                <a:solidFill>
                  <a:srgbClr val="14213D"/>
                </a:solidFill>
                <a:latin typeface="IBM Plex Sans" pitchFamily="34" charset="0"/>
                <a:ea typeface="IBM Plex Sans" pitchFamily="34" charset="-122"/>
                <a:cs typeface="IBM Plex Sans" pitchFamily="34" charset="-120"/>
              </a:rPr>
              <a:t> headers repeat the method name, so gateways route faster.</a:t>
            </a:r>
            <a:endParaRPr lang="en-US" sz="1600" dirty="0"/>
          </a:p>
        </p:txBody>
      </p:sp>
      <p:sp>
        <p:nvSpPr>
          <p:cNvPr id="6" name="Shape 3"/>
          <p:cNvSpPr/>
          <p:nvPr/>
        </p:nvSpPr>
        <p:spPr>
          <a:xfrm>
            <a:off x="812800" y="4949031"/>
            <a:ext cx="10566400" cy="787400"/>
          </a:xfrm>
          <a:prstGeom prst="roundRect">
            <a:avLst>
              <a:gd name="adj" fmla="val 9677"/>
            </a:avLst>
          </a:prstGeom>
          <a:solidFill>
            <a:srgbClr val="EFECE4"/>
          </a:solidFill>
          <a:ln/>
        </p:spPr>
        <p:txBody>
          <a:bodyPr/>
          <a:lstStyle/>
          <a:p>
            <a:endParaRPr lang="en-US"/>
          </a:p>
        </p:txBody>
      </p:sp>
      <p:pic>
        <p:nvPicPr>
          <p:cNvPr id="7" name="Image 0" descr="Book"/>
          <p:cNvPicPr>
            <a:picLocks noChangeAspect="1"/>
          </p:cNvPicPr>
          <p:nvPr/>
        </p:nvPicPr>
        <p:blipFill>
          <a:blip r:embed="rId3"/>
          <a:srcRect/>
          <a:stretch/>
        </p:blipFill>
        <p:spPr>
          <a:xfrm>
            <a:off x="990600" y="5076031"/>
            <a:ext cx="254000" cy="254000"/>
          </a:xfrm>
          <a:prstGeom prst="rect">
            <a:avLst/>
          </a:prstGeom>
        </p:spPr>
      </p:pic>
      <p:sp>
        <p:nvSpPr>
          <p:cNvPr id="8" name="Text 4"/>
          <p:cNvSpPr/>
          <p:nvPr/>
        </p:nvSpPr>
        <p:spPr>
          <a:xfrm>
            <a:off x="1397000" y="5076031"/>
            <a:ext cx="649676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Environment variable</a:t>
            </a:r>
            <a:r>
              <a:rPr lang="en-US" sz="1500" dirty="0">
                <a:solidFill>
                  <a:srgbClr val="14213D"/>
                </a:solidFill>
                <a:latin typeface="IBM Plex Sans" pitchFamily="34" charset="0"/>
                <a:ea typeface="IBM Plex Sans" pitchFamily="34" charset="-122"/>
                <a:cs typeface="IBM Plex Sans" pitchFamily="34" charset="-120"/>
              </a:rPr>
              <a:t> = a setting handed to a program when it starts.</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Gateway</a:t>
            </a:r>
            <a:r>
              <a:rPr lang="en-US" sz="1500" dirty="0">
                <a:solidFill>
                  <a:srgbClr val="14213D"/>
                </a:solidFill>
                <a:latin typeface="IBM Plex Sans" pitchFamily="34" charset="0"/>
                <a:ea typeface="IBM Plex Sans" pitchFamily="34" charset="-122"/>
                <a:cs typeface="IBM Plex Sans" pitchFamily="34" charset="-120"/>
              </a:rPr>
              <a:t> = a server in front of other servers that routes and checks traffic.</a:t>
            </a:r>
            <a:endParaRPr lang="en-US" sz="1500" dirty="0"/>
          </a:p>
        </p:txBody>
      </p:sp>
      <p:sp>
        <p:nvSpPr>
          <p:cNvPr id="9" name="Text 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5 · AUTHENTICATION AND AUTHORIZATION</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The flow: standard OAuth 2.1</a:t>
            </a:r>
            <a:endParaRPr lang="en-US" sz="3200" dirty="0"/>
          </a:p>
        </p:txBody>
      </p:sp>
      <p:sp>
        <p:nvSpPr>
          <p:cNvPr id="4" name="Text 2"/>
          <p:cNvSpPr/>
          <p:nvPr/>
        </p:nvSpPr>
        <p:spPr>
          <a:xfrm>
            <a:off x="841573" y="1762621"/>
            <a:ext cx="10846999" cy="1732161"/>
          </a:xfrm>
          <a:prstGeom prst="rect">
            <a:avLst/>
          </a:prstGeom>
          <a:noFill/>
          <a:ln/>
        </p:spPr>
        <p:txBody>
          <a:bodyPr wrap="square" lIns="0" tIns="0" rIns="0" bIns="0" rtlCol="0" anchor="t">
            <a:normAutofit/>
          </a:bodyPr>
          <a:lstStyle/>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No token → server replies </a:t>
            </a:r>
            <a:r>
              <a:rPr lang="en-US" sz="1600" b="1" dirty="0">
                <a:solidFill>
                  <a:srgbClr val="14213D"/>
                </a:solidFill>
                <a:latin typeface="IBM Plex Sans" pitchFamily="34" charset="0"/>
                <a:ea typeface="IBM Plex Sans" pitchFamily="34" charset="-122"/>
                <a:cs typeface="IBM Plex Sans" pitchFamily="34" charset="-120"/>
              </a:rPr>
              <a:t>401</a:t>
            </a:r>
            <a:r>
              <a:rPr lang="en-US" sz="1600" dirty="0">
                <a:solidFill>
                  <a:srgbClr val="14213D"/>
                </a:solidFill>
                <a:latin typeface="IBM Plex Sans" pitchFamily="34" charset="0"/>
                <a:ea typeface="IBM Plex Sans" pitchFamily="34" charset="-122"/>
                <a:cs typeface="IBM Plex Sans" pitchFamily="34" charset="-120"/>
              </a:rPr>
              <a:t> ("log in first") and points to its info page</a:t>
            </a:r>
            <a:endParaRPr lang="en-US" sz="1600" dirty="0"/>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Client reads that page (RFC 9728) → learns which </a:t>
            </a:r>
            <a:r>
              <a:rPr lang="en-US" sz="1600" b="1" dirty="0">
                <a:solidFill>
                  <a:srgbClr val="14213D"/>
                </a:solidFill>
                <a:latin typeface="IBM Plex Sans" pitchFamily="34" charset="0"/>
                <a:ea typeface="IBM Plex Sans" pitchFamily="34" charset="-122"/>
                <a:cs typeface="IBM Plex Sans" pitchFamily="34" charset="-120"/>
              </a:rPr>
              <a:t>login server</a:t>
            </a:r>
            <a:r>
              <a:rPr lang="en-US" sz="1600" dirty="0">
                <a:solidFill>
                  <a:srgbClr val="14213D"/>
                </a:solidFill>
                <a:latin typeface="IBM Plex Sans" pitchFamily="34" charset="0"/>
                <a:ea typeface="IBM Plex Sans" pitchFamily="34" charset="-122"/>
                <a:cs typeface="IBM Plex Sans" pitchFamily="34" charset="-120"/>
              </a:rPr>
              <a:t> to use</a:t>
            </a:r>
            <a:endParaRPr lang="en-US" sz="1600" dirty="0"/>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Client introduces itself: </a:t>
            </a:r>
            <a:r>
              <a:rPr lang="en-US" sz="1600" b="1" dirty="0">
                <a:solidFill>
                  <a:srgbClr val="14213D"/>
                </a:solidFill>
                <a:latin typeface="IBM Plex Sans" pitchFamily="34" charset="0"/>
                <a:ea typeface="IBM Plex Sans" pitchFamily="34" charset="-122"/>
                <a:cs typeface="IBM Plex Sans" pitchFamily="34" charset="-120"/>
              </a:rPr>
              <a:t>Client ID Metadata Document</a:t>
            </a:r>
            <a:r>
              <a:rPr lang="en-US" sz="1600" dirty="0">
                <a:solidFill>
                  <a:srgbClr val="14213D"/>
                </a:solidFill>
                <a:latin typeface="IBM Plex Sans" pitchFamily="34" charset="0"/>
                <a:ea typeface="IBM Plex Sans" pitchFamily="34" charset="-122"/>
                <a:cs typeface="IBM Plex Sans" pitchFamily="34" charset="-120"/>
              </a:rPr>
              <a:t> (preferred), pre-registration, or DCR (deprecated)</a:t>
            </a:r>
            <a:endParaRPr lang="en-US" sz="1600" dirty="0"/>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User signs in and approves in a browser</a:t>
            </a:r>
            <a:endParaRPr lang="en-US" sz="1600" dirty="0"/>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Client gets a token, using </a:t>
            </a:r>
            <a:r>
              <a:rPr lang="en-US" sz="1600" b="1" dirty="0">
                <a:solidFill>
                  <a:srgbClr val="14213D"/>
                </a:solidFill>
                <a:latin typeface="IBM Plex Sans" pitchFamily="34" charset="0"/>
                <a:ea typeface="IBM Plex Sans" pitchFamily="34" charset="-122"/>
                <a:cs typeface="IBM Plex Sans" pitchFamily="34" charset="-120"/>
              </a:rPr>
              <a:t>PKCE</a:t>
            </a:r>
            <a:r>
              <a:rPr lang="en-US" sz="1600" dirty="0">
                <a:solidFill>
                  <a:srgbClr val="14213D"/>
                </a:solidFill>
                <a:latin typeface="IBM Plex Sans" pitchFamily="34" charset="0"/>
                <a:ea typeface="IBM Plex Sans" pitchFamily="34" charset="-122"/>
                <a:cs typeface="IBM Plex Sans" pitchFamily="34" charset="-120"/>
              </a:rPr>
              <a:t> and </a:t>
            </a:r>
            <a:r>
              <a:rPr lang="en-US" sz="1600" b="1" dirty="0">
                <a:solidFill>
                  <a:srgbClr val="14213D"/>
                </a:solidFill>
                <a:latin typeface="IBM Plex Sans" pitchFamily="34" charset="0"/>
                <a:ea typeface="IBM Plex Sans" pitchFamily="34" charset="-122"/>
                <a:cs typeface="IBM Plex Sans" pitchFamily="34" charset="-120"/>
              </a:rPr>
              <a:t>resource =</a:t>
            </a:r>
            <a:r>
              <a:rPr lang="en-US" sz="1600" dirty="0">
                <a:solidFill>
                  <a:srgbClr val="14213D"/>
                </a:solidFill>
                <a:latin typeface="IBM Plex Sans" pitchFamily="34" charset="0"/>
                <a:ea typeface="IBM Plex Sans" pitchFamily="34" charset="-122"/>
                <a:cs typeface="IBM Plex Sans" pitchFamily="34" charset="-120"/>
              </a:rPr>
              <a:t> this server's URL</a:t>
            </a:r>
            <a:endParaRPr lang="en-US" sz="1600" dirty="0"/>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Every request carries </a:t>
            </a:r>
            <a:r>
              <a:rPr lang="en-US" sz="1600" b="1" dirty="0">
                <a:solidFill>
                  <a:srgbClr val="14213D"/>
                </a:solidFill>
                <a:latin typeface="IBM Plex Sans" pitchFamily="34" charset="0"/>
                <a:ea typeface="IBM Plex Sans" pitchFamily="34" charset="-122"/>
                <a:cs typeface="IBM Plex Sans" pitchFamily="34" charset="-120"/>
              </a:rPr>
              <a:t>Authorization: Bearer &lt;token&gt;</a:t>
            </a:r>
            <a:endParaRPr lang="en-US" sz="1600" dirty="0"/>
          </a:p>
        </p:txBody>
      </p:sp>
      <p:sp>
        <p:nvSpPr>
          <p:cNvPr id="5" name="Shape 3"/>
          <p:cNvSpPr/>
          <p:nvPr/>
        </p:nvSpPr>
        <p:spPr>
          <a:xfrm>
            <a:off x="812800" y="3723382"/>
            <a:ext cx="10566400" cy="1054100"/>
          </a:xfrm>
          <a:prstGeom prst="roundRect">
            <a:avLst>
              <a:gd name="adj" fmla="val 7229"/>
            </a:avLst>
          </a:prstGeom>
          <a:solidFill>
            <a:srgbClr val="EFECE4"/>
          </a:solidFill>
          <a:ln/>
        </p:spPr>
        <p:txBody>
          <a:bodyPr/>
          <a:lstStyle/>
          <a:p>
            <a:endParaRPr lang="en-US"/>
          </a:p>
        </p:txBody>
      </p:sp>
      <p:pic>
        <p:nvPicPr>
          <p:cNvPr id="6" name="Image 0" descr="Book"/>
          <p:cNvPicPr>
            <a:picLocks noChangeAspect="1"/>
          </p:cNvPicPr>
          <p:nvPr/>
        </p:nvPicPr>
        <p:blipFill>
          <a:blip r:embed="rId3"/>
          <a:srcRect/>
          <a:stretch/>
        </p:blipFill>
        <p:spPr>
          <a:xfrm>
            <a:off x="990600" y="3850382"/>
            <a:ext cx="254000" cy="254000"/>
          </a:xfrm>
          <a:prstGeom prst="rect">
            <a:avLst/>
          </a:prstGeom>
        </p:spPr>
      </p:pic>
      <p:sp>
        <p:nvSpPr>
          <p:cNvPr id="7" name="Text 4"/>
          <p:cNvSpPr/>
          <p:nvPr/>
        </p:nvSpPr>
        <p:spPr>
          <a:xfrm>
            <a:off x="1397000" y="3850382"/>
            <a:ext cx="7294395"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OAuth</a:t>
            </a:r>
            <a:r>
              <a:rPr lang="en-US" sz="1500" dirty="0">
                <a:solidFill>
                  <a:srgbClr val="14213D"/>
                </a:solidFill>
                <a:latin typeface="IBM Plex Sans" pitchFamily="34" charset="0"/>
                <a:ea typeface="IBM Plex Sans" pitchFamily="34" charset="-122"/>
                <a:cs typeface="IBM Plex Sans" pitchFamily="34" charset="-120"/>
              </a:rPr>
              <a:t> = the standard "log in and approve" flow; the app never sees your password.</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Token</a:t>
            </a:r>
            <a:r>
              <a:rPr lang="en-US" sz="1500" dirty="0">
                <a:solidFill>
                  <a:srgbClr val="14213D"/>
                </a:solidFill>
                <a:latin typeface="IBM Plex Sans" pitchFamily="34" charset="0"/>
                <a:ea typeface="IBM Plex Sans" pitchFamily="34" charset="-122"/>
                <a:cs typeface="IBM Plex Sans" pitchFamily="34" charset="-120"/>
              </a:rPr>
              <a:t> = a temporary access pass. </a:t>
            </a:r>
            <a:r>
              <a:rPr lang="en-US" sz="1500" b="1" dirty="0">
                <a:solidFill>
                  <a:srgbClr val="14213D"/>
                </a:solidFill>
                <a:latin typeface="IBM Plex Sans" pitchFamily="34" charset="0"/>
                <a:ea typeface="IBM Plex Sans" pitchFamily="34" charset="-122"/>
                <a:cs typeface="IBM Plex Sans" pitchFamily="34" charset="-120"/>
              </a:rPr>
              <a:t>Bearer</a:t>
            </a:r>
            <a:r>
              <a:rPr lang="en-US" sz="1500" dirty="0">
                <a:solidFill>
                  <a:srgbClr val="14213D"/>
                </a:solidFill>
                <a:latin typeface="IBM Plex Sans" pitchFamily="34" charset="0"/>
                <a:ea typeface="IBM Plex Sans" pitchFamily="34" charset="-122"/>
                <a:cs typeface="IBM Plex Sans" pitchFamily="34" charset="-120"/>
              </a:rPr>
              <a:t> = whoever holds it can use it.</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PKCE</a:t>
            </a:r>
            <a:r>
              <a:rPr lang="en-US" sz="1500" dirty="0">
                <a:solidFill>
                  <a:srgbClr val="14213D"/>
                </a:solidFill>
                <a:latin typeface="IBM Plex Sans" pitchFamily="34" charset="0"/>
                <a:ea typeface="IBM Plex Sans" pitchFamily="34" charset="-122"/>
                <a:cs typeface="IBM Plex Sans" pitchFamily="34" charset="-120"/>
              </a:rPr>
              <a:t> = a one-time secret that makes a stolen login code useless.</a:t>
            </a:r>
            <a:endParaRPr lang="en-US" sz="1500" dirty="0"/>
          </a:p>
        </p:txBody>
      </p:sp>
      <p:sp>
        <p:nvSpPr>
          <p:cNvPr id="8" name="Text 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5 · AUTHENTICATION AND AUTHORIZATION</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Four rules that matter</a:t>
            </a:r>
            <a:endParaRPr lang="en-US" sz="3200" dirty="0"/>
          </a:p>
        </p:txBody>
      </p:sp>
      <p:sp>
        <p:nvSpPr>
          <p:cNvPr id="4" name="Shape 2"/>
          <p:cNvSpPr/>
          <p:nvPr/>
        </p:nvSpPr>
        <p:spPr>
          <a:xfrm>
            <a:off x="815975" y="1765796"/>
            <a:ext cx="5175250" cy="1332111"/>
          </a:xfrm>
          <a:prstGeom prst="roundRect">
            <a:avLst>
              <a:gd name="adj" fmla="val 6435"/>
            </a:avLst>
          </a:prstGeom>
          <a:solidFill>
            <a:srgbClr val="FFFEFB"/>
          </a:solidFill>
          <a:ln w="6350">
            <a:solidFill>
              <a:srgbClr val="E2DED3"/>
            </a:solidFill>
            <a:prstDash val="solid"/>
          </a:ln>
        </p:spPr>
        <p:txBody>
          <a:bodyPr/>
          <a:lstStyle/>
          <a:p>
            <a:endParaRPr lang="en-US"/>
          </a:p>
        </p:txBody>
      </p:sp>
      <p:sp>
        <p:nvSpPr>
          <p:cNvPr id="5" name="Text 3"/>
          <p:cNvSpPr/>
          <p:nvPr/>
        </p:nvSpPr>
        <p:spPr>
          <a:xfrm>
            <a:off x="1047750" y="1972171"/>
            <a:ext cx="48530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Server checks, never issues</a:t>
            </a:r>
            <a:endParaRPr lang="en-US" sz="1800" dirty="0"/>
          </a:p>
        </p:txBody>
      </p:sp>
      <p:sp>
        <p:nvSpPr>
          <p:cNvPr id="6" name="Text 4"/>
          <p:cNvSpPr/>
          <p:nvPr/>
        </p:nvSpPr>
        <p:spPr>
          <a:xfrm>
            <a:off x="1047750" y="2322612"/>
            <a:ext cx="4853051"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It checks tokens. A separate login server hands them out.</a:t>
            </a:r>
            <a:endParaRPr lang="en-US" sz="1600" dirty="0"/>
          </a:p>
        </p:txBody>
      </p:sp>
      <p:sp>
        <p:nvSpPr>
          <p:cNvPr id="7" name="Shape 5"/>
          <p:cNvSpPr/>
          <p:nvPr/>
        </p:nvSpPr>
        <p:spPr>
          <a:xfrm>
            <a:off x="6200775" y="1765796"/>
            <a:ext cx="5175250" cy="1332111"/>
          </a:xfrm>
          <a:prstGeom prst="roundRect">
            <a:avLst>
              <a:gd name="adj" fmla="val 6435"/>
            </a:avLst>
          </a:prstGeom>
          <a:solidFill>
            <a:srgbClr val="FFFEFB"/>
          </a:solidFill>
          <a:ln w="6350">
            <a:solidFill>
              <a:srgbClr val="E2DED3"/>
            </a:solidFill>
            <a:prstDash val="solid"/>
          </a:ln>
        </p:spPr>
        <p:txBody>
          <a:bodyPr/>
          <a:lstStyle/>
          <a:p>
            <a:endParaRPr lang="en-US"/>
          </a:p>
        </p:txBody>
      </p:sp>
      <p:sp>
        <p:nvSpPr>
          <p:cNvPr id="8" name="Text 6"/>
          <p:cNvSpPr/>
          <p:nvPr/>
        </p:nvSpPr>
        <p:spPr>
          <a:xfrm>
            <a:off x="6432550" y="1972171"/>
            <a:ext cx="48530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Right audience only</a:t>
            </a:r>
            <a:endParaRPr lang="en-US" sz="1800" dirty="0"/>
          </a:p>
        </p:txBody>
      </p:sp>
      <p:sp>
        <p:nvSpPr>
          <p:cNvPr id="9" name="Text 7"/>
          <p:cNvSpPr/>
          <p:nvPr/>
        </p:nvSpPr>
        <p:spPr>
          <a:xfrm>
            <a:off x="6432550" y="2322612"/>
            <a:ext cx="4853051"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5568"/>
                </a:solidFill>
                <a:latin typeface="IBM Plex Sans" pitchFamily="34" charset="0"/>
                <a:ea typeface="IBM Plex Sans" pitchFamily="34" charset="-122"/>
                <a:cs typeface="IBM Plex Sans" pitchFamily="34" charset="-120"/>
              </a:rPr>
              <a:t>Audience</a:t>
            </a:r>
            <a:r>
              <a:rPr lang="en-US" sz="1600" dirty="0">
                <a:solidFill>
                  <a:srgbClr val="4A5568"/>
                </a:solidFill>
                <a:latin typeface="IBM Plex Sans" pitchFamily="34" charset="0"/>
                <a:ea typeface="IBM Plex Sans" pitchFamily="34" charset="-122"/>
                <a:cs typeface="IBM Plex Sans" pitchFamily="34" charset="-120"/>
              </a:rPr>
              <a:t> = who a token is for. Accept only yours; never pass it on.</a:t>
            </a:r>
            <a:endParaRPr lang="en-US" sz="1600" dirty="0"/>
          </a:p>
        </p:txBody>
      </p:sp>
      <p:sp>
        <p:nvSpPr>
          <p:cNvPr id="10" name="Shape 8"/>
          <p:cNvSpPr/>
          <p:nvPr/>
        </p:nvSpPr>
        <p:spPr>
          <a:xfrm>
            <a:off x="815975" y="3307457"/>
            <a:ext cx="5175250" cy="1332111"/>
          </a:xfrm>
          <a:prstGeom prst="roundRect">
            <a:avLst>
              <a:gd name="adj" fmla="val 6435"/>
            </a:avLst>
          </a:prstGeom>
          <a:solidFill>
            <a:srgbClr val="FFFEFB"/>
          </a:solidFill>
          <a:ln w="6350">
            <a:solidFill>
              <a:srgbClr val="E2DED3"/>
            </a:solidFill>
            <a:prstDash val="solid"/>
          </a:ln>
        </p:spPr>
        <p:txBody>
          <a:bodyPr/>
          <a:lstStyle/>
          <a:p>
            <a:endParaRPr lang="en-US"/>
          </a:p>
        </p:txBody>
      </p:sp>
      <p:sp>
        <p:nvSpPr>
          <p:cNvPr id="11" name="Text 9"/>
          <p:cNvSpPr/>
          <p:nvPr/>
        </p:nvSpPr>
        <p:spPr>
          <a:xfrm>
            <a:off x="1047750" y="3513832"/>
            <a:ext cx="48530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Least privilege</a:t>
            </a:r>
            <a:endParaRPr lang="en-US" sz="1800" dirty="0"/>
          </a:p>
        </p:txBody>
      </p:sp>
      <p:sp>
        <p:nvSpPr>
          <p:cNvPr id="12" name="Text 10"/>
          <p:cNvSpPr/>
          <p:nvPr/>
        </p:nvSpPr>
        <p:spPr>
          <a:xfrm>
            <a:off x="1047750" y="3864273"/>
            <a:ext cx="4853051"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5568"/>
                </a:solidFill>
                <a:latin typeface="IBM Plex Sans" pitchFamily="34" charset="0"/>
                <a:ea typeface="IBM Plex Sans" pitchFamily="34" charset="-122"/>
                <a:cs typeface="IBM Plex Sans" pitchFamily="34" charset="-120"/>
              </a:rPr>
              <a:t>Scope</a:t>
            </a:r>
            <a:r>
              <a:rPr lang="en-US" sz="1600" dirty="0">
                <a:solidFill>
                  <a:srgbClr val="4A5568"/>
                </a:solidFill>
                <a:latin typeface="IBM Plex Sans" pitchFamily="34" charset="0"/>
                <a:ea typeface="IBM Plex Sans" pitchFamily="34" charset="-122"/>
                <a:cs typeface="IBM Plex Sans" pitchFamily="34" charset="-120"/>
              </a:rPr>
              <a:t> = what a token may do. Need more? Server says 403; client asks.</a:t>
            </a:r>
            <a:endParaRPr lang="en-US" sz="1600" dirty="0"/>
          </a:p>
        </p:txBody>
      </p:sp>
      <p:sp>
        <p:nvSpPr>
          <p:cNvPr id="13" name="Shape 11"/>
          <p:cNvSpPr/>
          <p:nvPr/>
        </p:nvSpPr>
        <p:spPr>
          <a:xfrm>
            <a:off x="6200775" y="3307457"/>
            <a:ext cx="5175250" cy="1332111"/>
          </a:xfrm>
          <a:prstGeom prst="roundRect">
            <a:avLst>
              <a:gd name="adj" fmla="val 6435"/>
            </a:avLst>
          </a:prstGeom>
          <a:solidFill>
            <a:srgbClr val="FFFEFB"/>
          </a:solidFill>
          <a:ln w="6350">
            <a:solidFill>
              <a:srgbClr val="E2DED3"/>
            </a:solidFill>
            <a:prstDash val="solid"/>
          </a:ln>
        </p:spPr>
        <p:txBody>
          <a:bodyPr/>
          <a:lstStyle/>
          <a:p>
            <a:endParaRPr lang="en-US"/>
          </a:p>
        </p:txBody>
      </p:sp>
      <p:sp>
        <p:nvSpPr>
          <p:cNvPr id="14" name="Text 12"/>
          <p:cNvSpPr/>
          <p:nvPr/>
        </p:nvSpPr>
        <p:spPr>
          <a:xfrm>
            <a:off x="6432550" y="3513832"/>
            <a:ext cx="48530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stdio: no OAuth</a:t>
            </a:r>
            <a:endParaRPr lang="en-US" sz="1800" dirty="0"/>
          </a:p>
        </p:txBody>
      </p:sp>
      <p:sp>
        <p:nvSpPr>
          <p:cNvPr id="15" name="Text 13"/>
          <p:cNvSpPr/>
          <p:nvPr/>
        </p:nvSpPr>
        <p:spPr>
          <a:xfrm>
            <a:off x="6432550" y="3864273"/>
            <a:ext cx="4853051"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Local servers read keys from environment variables.</a:t>
            </a:r>
            <a:endParaRPr lang="en-US" sz="1600" dirty="0"/>
          </a:p>
        </p:txBody>
      </p:sp>
      <p:sp>
        <p:nvSpPr>
          <p:cNvPr id="16" name="Text 14"/>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5 · SECURITY IN PRACTICE</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Login is not enough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2330450"/>
        </p:xfrm>
        <a:graphic>
          <a:graphicData uri="http://schemas.openxmlformats.org/drawingml/2006/table">
            <a:tbl>
              <a:tblPr/>
              <a:tblGrid>
                <a:gridCol w="2955036">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Risk</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What happens</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Defense</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6794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Prompt injection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Text in a tool result tells the model what to do</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Treat results as data; confirm risky calls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 poisoning</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Hidden orders in a tool description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Install trusted servers only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Confused deputy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 uses a token not meant for it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Audience check; no passing tokens 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 much access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 can do more than the task needs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Narrow scopes; run local servers isolated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359771"/>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213D"/>
                </a:solidFill>
                <a:latin typeface="IBM Plex Sans" pitchFamily="34" charset="0"/>
                <a:ea typeface="IBM Plex Sans" pitchFamily="34" charset="-122"/>
                <a:cs typeface="IBM Plex Sans" pitchFamily="34" charset="-120"/>
              </a:rPr>
              <a:t>The host is the last check: users must be able to </a:t>
            </a:r>
            <a:r>
              <a:rPr lang="en-US" sz="1700" b="1" dirty="0">
                <a:solidFill>
                  <a:srgbClr val="14213D"/>
                </a:solidFill>
                <a:latin typeface="IBM Plex Sans" pitchFamily="34" charset="0"/>
                <a:ea typeface="IBM Plex Sans" pitchFamily="34" charset="-122"/>
                <a:cs typeface="IBM Plex Sans" pitchFamily="34" charset="-120"/>
              </a:rPr>
              <a:t>see and deny</a:t>
            </a:r>
            <a:r>
              <a:rPr lang="en-US" sz="1700" dirty="0">
                <a:solidFill>
                  <a:srgbClr val="14213D"/>
                </a:solidFill>
                <a:latin typeface="IBM Plex Sans" pitchFamily="34" charset="0"/>
                <a:ea typeface="IBM Plex Sans" pitchFamily="34" charset="-122"/>
                <a:cs typeface="IBM Plex Sans" pitchFamily="34" charset="-120"/>
              </a:rPr>
              <a:t> tool calls.</a:t>
            </a:r>
            <a:endParaRPr lang="en-US" sz="1700" dirty="0"/>
          </a:p>
        </p:txBody>
      </p:sp>
      <p:sp>
        <p:nvSpPr>
          <p:cNvPr id="6" name="Text 3"/>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6 · COMPARISONS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MCP vs. direct function calling</a:t>
            </a:r>
            <a:endParaRPr lang="en-US" sz="3200" dirty="0"/>
          </a:p>
        </p:txBody>
      </p:sp>
      <p:sp>
        <p:nvSpPr>
          <p:cNvPr id="4" name="Shape 2"/>
          <p:cNvSpPr/>
          <p:nvPr/>
        </p:nvSpPr>
        <p:spPr>
          <a:xfrm>
            <a:off x="812800" y="1762621"/>
            <a:ext cx="10566400" cy="520700"/>
          </a:xfrm>
          <a:prstGeom prst="roundRect">
            <a:avLst>
              <a:gd name="adj" fmla="val 14634"/>
            </a:avLst>
          </a:prstGeom>
          <a:solidFill>
            <a:srgbClr val="EFECE4"/>
          </a:solidFill>
          <a:ln/>
        </p:spPr>
        <p:txBody>
          <a:bodyPr/>
          <a:lstStyle/>
          <a:p>
            <a:endParaRPr lang="en-US"/>
          </a:p>
        </p:txBody>
      </p:sp>
      <p:pic>
        <p:nvPicPr>
          <p:cNvPr id="5" name="Image 0" descr="Book"/>
          <p:cNvPicPr>
            <a:picLocks noChangeAspect="1"/>
          </p:cNvPicPr>
          <p:nvPr/>
        </p:nvPicPr>
        <p:blipFill>
          <a:blip r:embed="rId3"/>
          <a:srcRect/>
          <a:stretch/>
        </p:blipFill>
        <p:spPr>
          <a:xfrm>
            <a:off x="990600" y="1889621"/>
            <a:ext cx="254000" cy="254000"/>
          </a:xfrm>
          <a:prstGeom prst="rect">
            <a:avLst/>
          </a:prstGeom>
        </p:spPr>
      </p:pic>
      <p:sp>
        <p:nvSpPr>
          <p:cNvPr id="6" name="Text 3"/>
          <p:cNvSpPr/>
          <p:nvPr/>
        </p:nvSpPr>
        <p:spPr>
          <a:xfrm>
            <a:off x="1397000" y="1889621"/>
            <a:ext cx="1003118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Function calling</a:t>
            </a:r>
            <a:r>
              <a:rPr lang="en-US" sz="1500" dirty="0">
                <a:solidFill>
                  <a:srgbClr val="14213D"/>
                </a:solidFill>
                <a:latin typeface="IBM Plex Sans" pitchFamily="34" charset="0"/>
                <a:ea typeface="IBM Plex Sans" pitchFamily="34" charset="-122"/>
                <a:cs typeface="IBM Plex Sans" pitchFamily="34" charset="-120"/>
              </a:rPr>
              <a:t> = an LLM feature: the app sends a list of functions, and the model picks one and fills in the inputs.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550021"/>
          <a:ext cx="10553700" cy="2063750"/>
        </p:xfrm>
        <a:graphic>
          <a:graphicData uri="http://schemas.openxmlformats.org/drawingml/2006/table">
            <a:tbl>
              <a:tblPr/>
              <a:tblGrid>
                <a:gridCol w="2532888">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412750">
                <a:tc>
                  <a:txBody>
                    <a:bodyPr/>
                    <a:lstStyle/>
                    <a:p>
                      <a:pPr marL="0" indent="0">
                        <a:lnSpc>
                          <a:spcPts val="2100"/>
                        </a:lnSpc>
                        <a:buNone/>
                      </a:pP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Function calling</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MCP</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Tools live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Inside each app's code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Once, in an MCP server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Who can use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Only that app</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Any MCP host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Discovery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Fixed when the app is built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At runtime (tools/list)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Scope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Tools only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Tools, resources, prompts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4"/>
          <p:cNvSpPr/>
          <p:nvPr/>
        </p:nvSpPr>
        <p:spPr>
          <a:xfrm>
            <a:off x="812800" y="4867771"/>
            <a:ext cx="10566400" cy="657820"/>
          </a:xfrm>
          <a:prstGeom prst="roundRect">
            <a:avLst>
              <a:gd name="adj" fmla="val 15445"/>
            </a:avLst>
          </a:prstGeom>
          <a:solidFill>
            <a:srgbClr val="14213D"/>
          </a:solidFill>
          <a:ln/>
        </p:spPr>
        <p:txBody>
          <a:bodyPr wrap="square" lIns="224242" tIns="148042" rIns="0" bIns="122642" rtlCol="0" anchor="t">
            <a:normAutofit/>
          </a:bodyPr>
          <a:lstStyle/>
          <a:p>
            <a:pPr marL="0" indent="0" algn="l">
              <a:lnSpc>
                <a:spcPts val="2380"/>
              </a:lnSpc>
              <a:buNone/>
            </a:pPr>
            <a:r>
              <a:rPr lang="en-US" sz="1700" b="1" dirty="0">
                <a:solidFill>
                  <a:srgbClr val="F0A35E"/>
                </a:solidFill>
                <a:latin typeface="IBM Plex Sans" pitchFamily="34" charset="0"/>
                <a:ea typeface="IBM Plex Sans" pitchFamily="34" charset="-122"/>
                <a:cs typeface="IBM Plex Sans" pitchFamily="34" charset="-120"/>
              </a:rPr>
              <a:t>Not either/or:</a:t>
            </a:r>
            <a:r>
              <a:rPr lang="en-US" sz="1700" dirty="0">
                <a:solidFill>
                  <a:srgbClr val="F7F5EF"/>
                </a:solidFill>
                <a:latin typeface="IBM Plex Sans" pitchFamily="34" charset="0"/>
                <a:ea typeface="IBM Plex Sans" pitchFamily="34" charset="-122"/>
                <a:cs typeface="IBM Plex Sans" pitchFamily="34" charset="-120"/>
              </a:rPr>
              <a:t> the host still uses function calling to pick an MCP tool.</a:t>
            </a:r>
            <a:endParaRPr lang="en-US" sz="1700" dirty="0"/>
          </a:p>
        </p:txBody>
      </p:sp>
      <p:sp>
        <p:nvSpPr>
          <p:cNvPr id="9" name="Text 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6 · COMPARISONS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MCP vs. REST APIs</a:t>
            </a:r>
            <a:endParaRPr lang="en-US" sz="3200" dirty="0"/>
          </a:p>
        </p:txBody>
      </p:sp>
      <p:sp>
        <p:nvSpPr>
          <p:cNvPr id="4" name="Shape 2"/>
          <p:cNvSpPr/>
          <p:nvPr/>
        </p:nvSpPr>
        <p:spPr>
          <a:xfrm>
            <a:off x="812800" y="1762621"/>
            <a:ext cx="10566400" cy="520700"/>
          </a:xfrm>
          <a:prstGeom prst="roundRect">
            <a:avLst>
              <a:gd name="adj" fmla="val 14634"/>
            </a:avLst>
          </a:prstGeom>
          <a:solidFill>
            <a:srgbClr val="EFECE4"/>
          </a:solidFill>
          <a:ln/>
        </p:spPr>
        <p:txBody>
          <a:bodyPr/>
          <a:lstStyle/>
          <a:p>
            <a:endParaRPr lang="en-US"/>
          </a:p>
        </p:txBody>
      </p:sp>
      <p:pic>
        <p:nvPicPr>
          <p:cNvPr id="5" name="Image 0" descr="Book"/>
          <p:cNvPicPr>
            <a:picLocks noChangeAspect="1"/>
          </p:cNvPicPr>
          <p:nvPr/>
        </p:nvPicPr>
        <p:blipFill>
          <a:blip r:embed="rId3"/>
          <a:srcRect/>
          <a:stretch/>
        </p:blipFill>
        <p:spPr>
          <a:xfrm>
            <a:off x="990600" y="1889621"/>
            <a:ext cx="254000" cy="254000"/>
          </a:xfrm>
          <a:prstGeom prst="rect">
            <a:avLst/>
          </a:prstGeom>
        </p:spPr>
      </p:pic>
      <p:sp>
        <p:nvSpPr>
          <p:cNvPr id="6" name="Text 3"/>
          <p:cNvSpPr/>
          <p:nvPr/>
        </p:nvSpPr>
        <p:spPr>
          <a:xfrm>
            <a:off x="1397000" y="1889621"/>
            <a:ext cx="870061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REST API</a:t>
            </a:r>
            <a:r>
              <a:rPr lang="en-US" sz="1500" dirty="0">
                <a:solidFill>
                  <a:srgbClr val="14213D"/>
                </a:solidFill>
                <a:latin typeface="IBM Plex Sans" pitchFamily="34" charset="0"/>
                <a:ea typeface="IBM Plex Sans" pitchFamily="34" charset="-122"/>
                <a:cs typeface="IBM Plex Sans" pitchFamily="34" charset="-120"/>
              </a:rPr>
              <a:t> = a web service that programs call with URLs and verbs like GET and POST.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550021"/>
          <a:ext cx="10553700" cy="2063750"/>
        </p:xfrm>
        <a:graphic>
          <a:graphicData uri="http://schemas.openxmlformats.org/drawingml/2006/table">
            <a:tbl>
              <a:tblPr/>
              <a:tblGrid>
                <a:gridCol w="2532888">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412750">
                <a:tc>
                  <a:txBody>
                    <a:bodyPr/>
                    <a:lstStyle/>
                    <a:p>
                      <a:pPr marL="0" indent="0">
                        <a:lnSpc>
                          <a:spcPts val="2100"/>
                        </a:lnSpc>
                        <a:buNone/>
                      </a:pP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REST API</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MCP</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Built for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Developers reading docs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AI apps, at runtime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Interface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Many URLs, each API different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small fixed set of methods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Description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Optional, written for people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Required, written for the model</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Transport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HTTP</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stdio or HTTP</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4"/>
          <p:cNvSpPr/>
          <p:nvPr/>
        </p:nvSpPr>
        <p:spPr>
          <a:xfrm>
            <a:off x="812800" y="4867771"/>
            <a:ext cx="10566400" cy="657820"/>
          </a:xfrm>
          <a:prstGeom prst="roundRect">
            <a:avLst>
              <a:gd name="adj" fmla="val 15445"/>
            </a:avLst>
          </a:prstGeom>
          <a:solidFill>
            <a:srgbClr val="14213D"/>
          </a:solidFill>
          <a:ln/>
        </p:spPr>
        <p:txBody>
          <a:bodyPr wrap="square" lIns="224242" tIns="148042" rIns="0" bIns="122642" rtlCol="0" anchor="t">
            <a:normAutofit/>
          </a:bodyPr>
          <a:lstStyle/>
          <a:p>
            <a:pPr marL="0" indent="0" algn="l">
              <a:lnSpc>
                <a:spcPts val="2380"/>
              </a:lnSpc>
              <a:buNone/>
            </a:pPr>
            <a:r>
              <a:rPr lang="en-US" sz="1700" b="1" dirty="0">
                <a:solidFill>
                  <a:srgbClr val="F0A35E"/>
                </a:solidFill>
                <a:latin typeface="IBM Plex Sans" pitchFamily="34" charset="0"/>
                <a:ea typeface="IBM Plex Sans" pitchFamily="34" charset="-122"/>
                <a:cs typeface="IBM Plex Sans" pitchFamily="34" charset="-120"/>
              </a:rPr>
              <a:t>A layer on top:</a:t>
            </a:r>
            <a:r>
              <a:rPr lang="en-US" sz="1700" dirty="0">
                <a:solidFill>
                  <a:srgbClr val="F7F5EF"/>
                </a:solidFill>
                <a:latin typeface="IBM Plex Sans" pitchFamily="34" charset="0"/>
                <a:ea typeface="IBM Plex Sans" pitchFamily="34" charset="-122"/>
                <a:cs typeface="IBM Plex Sans" pitchFamily="34" charset="-120"/>
              </a:rPr>
              <a:t> most MCP servers wrap an existing REST API.</a:t>
            </a:r>
            <a:endParaRPr lang="en-US" sz="1700" dirty="0"/>
          </a:p>
        </p:txBody>
      </p:sp>
      <p:sp>
        <p:nvSpPr>
          <p:cNvPr id="9" name="Text 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6 · COMPARISONS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MCP vs. RAG</a:t>
            </a:r>
            <a:endParaRPr lang="en-US" sz="3200" dirty="0"/>
          </a:p>
        </p:txBody>
      </p:sp>
      <p:sp>
        <p:nvSpPr>
          <p:cNvPr id="4" name="Shape 2"/>
          <p:cNvSpPr/>
          <p:nvPr/>
        </p:nvSpPr>
        <p:spPr>
          <a:xfrm>
            <a:off x="812800" y="1762621"/>
            <a:ext cx="10566400" cy="787400"/>
          </a:xfrm>
          <a:prstGeom prst="roundRect">
            <a:avLst>
              <a:gd name="adj" fmla="val 9677"/>
            </a:avLst>
          </a:prstGeom>
          <a:solidFill>
            <a:srgbClr val="EFECE4"/>
          </a:solidFill>
          <a:ln/>
        </p:spPr>
        <p:txBody>
          <a:bodyPr/>
          <a:lstStyle/>
          <a:p>
            <a:endParaRPr lang="en-US"/>
          </a:p>
        </p:txBody>
      </p:sp>
      <p:pic>
        <p:nvPicPr>
          <p:cNvPr id="5" name="Image 0" descr="Book"/>
          <p:cNvPicPr>
            <a:picLocks noChangeAspect="1"/>
          </p:cNvPicPr>
          <p:nvPr/>
        </p:nvPicPr>
        <p:blipFill>
          <a:blip r:embed="rId3"/>
          <a:srcRect t="-39" b="-39"/>
          <a:stretch/>
        </p:blipFill>
        <p:spPr>
          <a:xfrm>
            <a:off x="990600" y="1889621"/>
            <a:ext cx="253802" cy="254000"/>
          </a:xfrm>
          <a:prstGeom prst="rect">
            <a:avLst/>
          </a:prstGeom>
        </p:spPr>
      </p:pic>
      <p:sp>
        <p:nvSpPr>
          <p:cNvPr id="6" name="Text 3"/>
          <p:cNvSpPr/>
          <p:nvPr/>
        </p:nvSpPr>
        <p:spPr>
          <a:xfrm>
            <a:off x="1396802" y="1889621"/>
            <a:ext cx="1009873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RAG</a:t>
            </a:r>
            <a:r>
              <a:rPr lang="en-US" sz="1500" dirty="0">
                <a:solidFill>
                  <a:srgbClr val="14213D"/>
                </a:solidFill>
                <a:latin typeface="IBM Plex Sans" pitchFamily="34" charset="0"/>
                <a:ea typeface="IBM Plex Sans" pitchFamily="34" charset="-122"/>
                <a:cs typeface="IBM Plex Sans" pitchFamily="34" charset="-120"/>
              </a:rPr>
              <a:t> (retrieval-augmented generation) = search your documents first, then paste the best matches into the prompt.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16721"/>
          <a:ext cx="10553700" cy="2063750"/>
        </p:xfrm>
        <a:graphic>
          <a:graphicData uri="http://schemas.openxmlformats.org/drawingml/2006/table">
            <a:tbl>
              <a:tblPr/>
              <a:tblGrid>
                <a:gridCol w="2532888">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412750">
                <a:tc>
                  <a:txBody>
                    <a:bodyPr/>
                    <a:lstStyle/>
                    <a:p>
                      <a:pPr marL="0" indent="0">
                        <a:lnSpc>
                          <a:spcPts val="2100"/>
                        </a:lnSpc>
                        <a:buNone/>
                      </a:pP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RAG</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MCP</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What it is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technique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protocol</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Direction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Read only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Read and act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Data</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search index built ahead of time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Live queries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Who decides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Pipeline, every time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Model, when needed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4"/>
          <p:cNvSpPr/>
          <p:nvPr/>
        </p:nvSpPr>
        <p:spPr>
          <a:xfrm>
            <a:off x="812800" y="5134471"/>
            <a:ext cx="10566400" cy="657820"/>
          </a:xfrm>
          <a:prstGeom prst="roundRect">
            <a:avLst>
              <a:gd name="adj" fmla="val 15445"/>
            </a:avLst>
          </a:prstGeom>
          <a:solidFill>
            <a:srgbClr val="14213D"/>
          </a:solidFill>
          <a:ln/>
        </p:spPr>
        <p:txBody>
          <a:bodyPr wrap="square" lIns="224242" tIns="148042" rIns="0" bIns="122642" rtlCol="0" anchor="t">
            <a:normAutofit/>
          </a:bodyPr>
          <a:lstStyle/>
          <a:p>
            <a:pPr marL="0" indent="0" algn="l">
              <a:lnSpc>
                <a:spcPts val="2380"/>
              </a:lnSpc>
              <a:buNone/>
            </a:pPr>
            <a:r>
              <a:rPr lang="en-US" sz="1700" b="1" dirty="0">
                <a:solidFill>
                  <a:srgbClr val="F0A35E"/>
                </a:solidFill>
                <a:latin typeface="IBM Plex Sans" pitchFamily="34" charset="0"/>
                <a:ea typeface="IBM Plex Sans" pitchFamily="34" charset="-122"/>
                <a:cs typeface="IBM Plex Sans" pitchFamily="34" charset="-120"/>
              </a:rPr>
              <a:t>They combine:</a:t>
            </a:r>
            <a:r>
              <a:rPr lang="en-US" sz="1700" dirty="0">
                <a:solidFill>
                  <a:srgbClr val="F7F5EF"/>
                </a:solidFill>
                <a:latin typeface="IBM Plex Sans" pitchFamily="34" charset="0"/>
                <a:ea typeface="IBM Plex Sans" pitchFamily="34" charset="-122"/>
                <a:cs typeface="IBM Plex Sans" pitchFamily="34" charset="-120"/>
              </a:rPr>
              <a:t> offer your RAG search as an MCP tool, like search_docs.</a:t>
            </a:r>
            <a:endParaRPr lang="en-US" sz="1700" dirty="0"/>
          </a:p>
        </p:txBody>
      </p:sp>
      <p:sp>
        <p:nvSpPr>
          <p:cNvPr id="9" name="Text 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7 · RECENT CHANGES</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Each version is named by its date</a:t>
            </a:r>
            <a:endParaRPr lang="en-US" sz="3200" dirty="0"/>
          </a:p>
        </p:txBody>
      </p:sp>
      <p:sp>
        <p:nvSpPr>
          <p:cNvPr id="4" name="Shape 2"/>
          <p:cNvSpPr/>
          <p:nvPr/>
        </p:nvSpPr>
        <p:spPr>
          <a:xfrm>
            <a:off x="812800" y="1832471"/>
            <a:ext cx="1991320" cy="0"/>
          </a:xfrm>
          <a:prstGeom prst="line">
            <a:avLst/>
          </a:prstGeom>
          <a:noFill/>
          <a:ln w="38100">
            <a:solidFill>
              <a:srgbClr val="8FA3BF"/>
            </a:solidFill>
            <a:prstDash val="solid"/>
          </a:ln>
        </p:spPr>
        <p:txBody>
          <a:bodyPr/>
          <a:lstStyle/>
          <a:p>
            <a:endParaRPr lang="en-US"/>
          </a:p>
        </p:txBody>
      </p:sp>
      <p:sp>
        <p:nvSpPr>
          <p:cNvPr id="5" name="Text 3"/>
          <p:cNvSpPr/>
          <p:nvPr/>
        </p:nvSpPr>
        <p:spPr>
          <a:xfrm>
            <a:off x="812800" y="2003921"/>
            <a:ext cx="205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8"/>
                </a:solidFill>
                <a:latin typeface="JetBrains Mono" pitchFamily="49" charset="0"/>
                <a:ea typeface="JetBrains Mono" pitchFamily="49" charset="-122"/>
                <a:cs typeface="JetBrains Mono" pitchFamily="49" charset="-120"/>
              </a:rPr>
              <a:t>2024-11</a:t>
            </a:r>
            <a:endParaRPr lang="en-US" sz="1500" dirty="0"/>
          </a:p>
        </p:txBody>
      </p:sp>
      <p:sp>
        <p:nvSpPr>
          <p:cNvPr id="6" name="Text 4"/>
          <p:cNvSpPr/>
          <p:nvPr/>
        </p:nvSpPr>
        <p:spPr>
          <a:xfrm>
            <a:off x="812800" y="2372221"/>
            <a:ext cx="20510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First release</a:t>
            </a:r>
            <a:endParaRPr lang="en-US" sz="1500" dirty="0"/>
          </a:p>
        </p:txBody>
      </p:sp>
      <p:sp>
        <p:nvSpPr>
          <p:cNvPr id="7" name="Shape 5"/>
          <p:cNvSpPr/>
          <p:nvPr/>
        </p:nvSpPr>
        <p:spPr>
          <a:xfrm>
            <a:off x="2956520" y="1832471"/>
            <a:ext cx="1991420" cy="0"/>
          </a:xfrm>
          <a:prstGeom prst="line">
            <a:avLst/>
          </a:prstGeom>
          <a:noFill/>
          <a:ln w="38100">
            <a:solidFill>
              <a:srgbClr val="8FA3BF"/>
            </a:solidFill>
            <a:prstDash val="solid"/>
          </a:ln>
        </p:spPr>
        <p:txBody>
          <a:bodyPr/>
          <a:lstStyle/>
          <a:p>
            <a:endParaRPr lang="en-US"/>
          </a:p>
        </p:txBody>
      </p:sp>
      <p:sp>
        <p:nvSpPr>
          <p:cNvPr id="8" name="Text 6"/>
          <p:cNvSpPr/>
          <p:nvPr/>
        </p:nvSpPr>
        <p:spPr>
          <a:xfrm>
            <a:off x="2956520" y="2003921"/>
            <a:ext cx="205116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8"/>
                </a:solidFill>
                <a:latin typeface="JetBrains Mono" pitchFamily="49" charset="0"/>
                <a:ea typeface="JetBrains Mono" pitchFamily="49" charset="-122"/>
                <a:cs typeface="JetBrains Mono" pitchFamily="49" charset="-120"/>
              </a:rPr>
              <a:t>2025-03</a:t>
            </a:r>
            <a:endParaRPr lang="en-US" sz="1500" dirty="0"/>
          </a:p>
        </p:txBody>
      </p:sp>
      <p:sp>
        <p:nvSpPr>
          <p:cNvPr id="9" name="Text 7"/>
          <p:cNvSpPr/>
          <p:nvPr/>
        </p:nvSpPr>
        <p:spPr>
          <a:xfrm>
            <a:off x="2956520" y="2372221"/>
            <a:ext cx="205116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OAuth login, Streamable HTTP, tool annotations</a:t>
            </a:r>
            <a:endParaRPr lang="en-US" sz="1500" dirty="0"/>
          </a:p>
        </p:txBody>
      </p:sp>
      <p:sp>
        <p:nvSpPr>
          <p:cNvPr id="10" name="Shape 8"/>
          <p:cNvSpPr/>
          <p:nvPr/>
        </p:nvSpPr>
        <p:spPr>
          <a:xfrm>
            <a:off x="5100340" y="1832471"/>
            <a:ext cx="1991320" cy="0"/>
          </a:xfrm>
          <a:prstGeom prst="line">
            <a:avLst/>
          </a:prstGeom>
          <a:noFill/>
          <a:ln w="38100">
            <a:solidFill>
              <a:srgbClr val="8FA3BF"/>
            </a:solidFill>
            <a:prstDash val="solid"/>
          </a:ln>
        </p:spPr>
        <p:txBody>
          <a:bodyPr/>
          <a:lstStyle/>
          <a:p>
            <a:endParaRPr lang="en-US"/>
          </a:p>
        </p:txBody>
      </p:sp>
      <p:sp>
        <p:nvSpPr>
          <p:cNvPr id="11" name="Text 9"/>
          <p:cNvSpPr/>
          <p:nvPr/>
        </p:nvSpPr>
        <p:spPr>
          <a:xfrm>
            <a:off x="5100340" y="2003921"/>
            <a:ext cx="205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8"/>
                </a:solidFill>
                <a:latin typeface="JetBrains Mono" pitchFamily="49" charset="0"/>
                <a:ea typeface="JetBrains Mono" pitchFamily="49" charset="-122"/>
                <a:cs typeface="JetBrains Mono" pitchFamily="49" charset="-120"/>
              </a:rPr>
              <a:t>2025-06</a:t>
            </a:r>
            <a:endParaRPr lang="en-US" sz="1500" dirty="0"/>
          </a:p>
        </p:txBody>
      </p:sp>
      <p:sp>
        <p:nvSpPr>
          <p:cNvPr id="12" name="Text 10"/>
          <p:cNvSpPr/>
          <p:nvPr/>
        </p:nvSpPr>
        <p:spPr>
          <a:xfrm>
            <a:off x="5100340" y="2372221"/>
            <a:ext cx="205106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Structured output, elicitation</a:t>
            </a:r>
            <a:endParaRPr lang="en-US" sz="1500" dirty="0"/>
          </a:p>
        </p:txBody>
      </p:sp>
      <p:sp>
        <p:nvSpPr>
          <p:cNvPr id="13" name="Shape 11"/>
          <p:cNvSpPr/>
          <p:nvPr/>
        </p:nvSpPr>
        <p:spPr>
          <a:xfrm>
            <a:off x="7244060" y="1832471"/>
            <a:ext cx="1991420" cy="0"/>
          </a:xfrm>
          <a:prstGeom prst="line">
            <a:avLst/>
          </a:prstGeom>
          <a:noFill/>
          <a:ln w="38100">
            <a:solidFill>
              <a:srgbClr val="8FA3BF"/>
            </a:solidFill>
            <a:prstDash val="solid"/>
          </a:ln>
        </p:spPr>
        <p:txBody>
          <a:bodyPr/>
          <a:lstStyle/>
          <a:p>
            <a:endParaRPr lang="en-US"/>
          </a:p>
        </p:txBody>
      </p:sp>
      <p:sp>
        <p:nvSpPr>
          <p:cNvPr id="14" name="Text 12"/>
          <p:cNvSpPr/>
          <p:nvPr/>
        </p:nvSpPr>
        <p:spPr>
          <a:xfrm>
            <a:off x="7244060" y="2003921"/>
            <a:ext cx="205116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8"/>
                </a:solidFill>
                <a:latin typeface="JetBrains Mono" pitchFamily="49" charset="0"/>
                <a:ea typeface="JetBrains Mono" pitchFamily="49" charset="-122"/>
                <a:cs typeface="JetBrains Mono" pitchFamily="49" charset="-120"/>
              </a:rPr>
              <a:t>2025-11</a:t>
            </a:r>
            <a:endParaRPr lang="en-US" sz="1500" dirty="0"/>
          </a:p>
        </p:txBody>
      </p:sp>
      <p:sp>
        <p:nvSpPr>
          <p:cNvPr id="15" name="Text 13"/>
          <p:cNvSpPr/>
          <p:nvPr/>
        </p:nvSpPr>
        <p:spPr>
          <a:xfrm>
            <a:off x="7244060" y="2372221"/>
            <a:ext cx="205116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Client ID Metadata, tasks, icons</a:t>
            </a:r>
            <a:endParaRPr lang="en-US" sz="1500" dirty="0"/>
          </a:p>
        </p:txBody>
      </p:sp>
      <p:sp>
        <p:nvSpPr>
          <p:cNvPr id="16" name="Shape 14"/>
          <p:cNvSpPr/>
          <p:nvPr/>
        </p:nvSpPr>
        <p:spPr>
          <a:xfrm>
            <a:off x="9387880" y="1832471"/>
            <a:ext cx="1991320" cy="0"/>
          </a:xfrm>
          <a:prstGeom prst="line">
            <a:avLst/>
          </a:prstGeom>
          <a:noFill/>
          <a:ln w="38100">
            <a:solidFill>
              <a:srgbClr val="C25A12"/>
            </a:solidFill>
            <a:prstDash val="solid"/>
          </a:ln>
        </p:spPr>
        <p:txBody>
          <a:bodyPr/>
          <a:lstStyle/>
          <a:p>
            <a:endParaRPr lang="en-US"/>
          </a:p>
        </p:txBody>
      </p:sp>
      <p:sp>
        <p:nvSpPr>
          <p:cNvPr id="17" name="Text 15"/>
          <p:cNvSpPr/>
          <p:nvPr/>
        </p:nvSpPr>
        <p:spPr>
          <a:xfrm>
            <a:off x="9387880" y="2003921"/>
            <a:ext cx="205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A12"/>
                </a:solidFill>
                <a:latin typeface="JetBrains Mono" pitchFamily="49" charset="0"/>
                <a:ea typeface="JetBrains Mono" pitchFamily="49" charset="-122"/>
                <a:cs typeface="JetBrains Mono" pitchFamily="49" charset="-120"/>
              </a:rPr>
              <a:t>2026-07</a:t>
            </a:r>
            <a:endParaRPr lang="en-US" sz="1500" dirty="0"/>
          </a:p>
        </p:txBody>
      </p:sp>
      <p:sp>
        <p:nvSpPr>
          <p:cNvPr id="18" name="Text 16"/>
          <p:cNvSpPr/>
          <p:nvPr/>
        </p:nvSpPr>
        <p:spPr>
          <a:xfrm>
            <a:off x="9387880" y="2372221"/>
            <a:ext cx="205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Stateless redesign</a:t>
            </a:r>
            <a:endParaRPr lang="en-US" sz="1500" dirty="0"/>
          </a:p>
        </p:txBody>
      </p:sp>
      <p:sp>
        <p:nvSpPr>
          <p:cNvPr id="19" name="Text 17"/>
          <p:cNvSpPr/>
          <p:nvPr/>
        </p:nvSpPr>
        <p:spPr>
          <a:xfrm>
            <a:off x="812800" y="3477121"/>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Changes go through public proposals called </a:t>
            </a:r>
            <a:r>
              <a:rPr lang="en-US" sz="1700" b="1" dirty="0">
                <a:solidFill>
                  <a:srgbClr val="4A5568"/>
                </a:solidFill>
                <a:latin typeface="IBM Plex Sans" pitchFamily="34" charset="0"/>
                <a:ea typeface="IBM Plex Sans" pitchFamily="34" charset="-122"/>
                <a:cs typeface="IBM Plex Sans" pitchFamily="34" charset="-120"/>
              </a:rPr>
              <a:t>SEPs</a:t>
            </a:r>
            <a:r>
              <a:rPr lang="en-US" sz="1700" dirty="0">
                <a:solidFill>
                  <a:srgbClr val="4A5568"/>
                </a:solidFill>
                <a:latin typeface="IBM Plex Sans" pitchFamily="34" charset="0"/>
                <a:ea typeface="IBM Plex Sans" pitchFamily="34" charset="-122"/>
                <a:cs typeface="IBM Plex Sans" pitchFamily="34" charset="-120"/>
              </a:rPr>
              <a:t>, like PEPs in Python.</a:t>
            </a:r>
            <a:endParaRPr lang="en-US" sz="1700" dirty="0"/>
          </a:p>
        </p:txBody>
      </p:sp>
      <p:sp>
        <p:nvSpPr>
          <p:cNvPr id="20" name="Shape 18"/>
          <p:cNvSpPr/>
          <p:nvPr/>
        </p:nvSpPr>
        <p:spPr>
          <a:xfrm>
            <a:off x="812800" y="4084141"/>
            <a:ext cx="10566400" cy="787400"/>
          </a:xfrm>
          <a:prstGeom prst="roundRect">
            <a:avLst>
              <a:gd name="adj" fmla="val 9677"/>
            </a:avLst>
          </a:prstGeom>
          <a:solidFill>
            <a:srgbClr val="EFECE4"/>
          </a:solidFill>
          <a:ln/>
        </p:spPr>
        <p:txBody>
          <a:bodyPr/>
          <a:lstStyle/>
          <a:p>
            <a:endParaRPr lang="en-US"/>
          </a:p>
        </p:txBody>
      </p:sp>
      <p:pic>
        <p:nvPicPr>
          <p:cNvPr id="21" name="Image 0" descr="Book"/>
          <p:cNvPicPr>
            <a:picLocks noChangeAspect="1"/>
          </p:cNvPicPr>
          <p:nvPr/>
        </p:nvPicPr>
        <p:blipFill>
          <a:blip r:embed="rId3"/>
          <a:srcRect/>
          <a:stretch/>
        </p:blipFill>
        <p:spPr>
          <a:xfrm>
            <a:off x="990600" y="4211141"/>
            <a:ext cx="254000" cy="254000"/>
          </a:xfrm>
          <a:prstGeom prst="rect">
            <a:avLst/>
          </a:prstGeom>
        </p:spPr>
      </p:pic>
      <p:sp>
        <p:nvSpPr>
          <p:cNvPr id="22" name="Text 19"/>
          <p:cNvSpPr/>
          <p:nvPr/>
        </p:nvSpPr>
        <p:spPr>
          <a:xfrm>
            <a:off x="1397000" y="4211141"/>
            <a:ext cx="7521371"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Elicitation</a:t>
            </a:r>
            <a:r>
              <a:rPr lang="en-US" sz="1500" dirty="0">
                <a:solidFill>
                  <a:srgbClr val="14213D"/>
                </a:solidFill>
                <a:latin typeface="IBM Plex Sans" pitchFamily="34" charset="0"/>
                <a:ea typeface="IBM Plex Sans" pitchFamily="34" charset="-122"/>
                <a:cs typeface="IBM Plex Sans" pitchFamily="34" charset="-120"/>
              </a:rPr>
              <a:t> = the server asks the user a question. </a:t>
            </a:r>
            <a:r>
              <a:rPr lang="en-US" sz="1500" b="1" dirty="0">
                <a:solidFill>
                  <a:srgbClr val="14213D"/>
                </a:solidFill>
                <a:latin typeface="IBM Plex Sans" pitchFamily="34" charset="0"/>
                <a:ea typeface="IBM Plex Sans" pitchFamily="34" charset="-122"/>
                <a:cs typeface="IBM Plex Sans" pitchFamily="34" charset="-120"/>
              </a:rPr>
              <a:t>Tasks</a:t>
            </a:r>
            <a:r>
              <a:rPr lang="en-US" sz="1500" dirty="0">
                <a:solidFill>
                  <a:srgbClr val="14213D"/>
                </a:solidFill>
                <a:latin typeface="IBM Plex Sans" pitchFamily="34" charset="0"/>
                <a:ea typeface="IBM Plex Sans" pitchFamily="34" charset="-122"/>
                <a:cs typeface="IBM Plex Sans" pitchFamily="34" charset="-120"/>
              </a:rPr>
              <a:t> = long jobs you check on later.</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Structured output</a:t>
            </a:r>
            <a:r>
              <a:rPr lang="en-US" sz="1500" dirty="0">
                <a:solidFill>
                  <a:srgbClr val="14213D"/>
                </a:solidFill>
                <a:latin typeface="IBM Plex Sans" pitchFamily="34" charset="0"/>
                <a:ea typeface="IBM Plex Sans" pitchFamily="34" charset="-122"/>
                <a:cs typeface="IBM Plex Sans" pitchFamily="34" charset="-120"/>
              </a:rPr>
              <a:t> = results as typed JSON, not just text.</a:t>
            </a:r>
            <a:endParaRPr lang="en-US" sz="1500" dirty="0"/>
          </a:p>
        </p:txBody>
      </p:sp>
      <p:sp>
        <p:nvSpPr>
          <p:cNvPr id="23" name="Text 20"/>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7 · RECENT CHANGES · 2026-07-28</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MCP became stateless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2063750"/>
        </p:xfrm>
        <a:graphic>
          <a:graphicData uri="http://schemas.openxmlformats.org/drawingml/2006/table">
            <a:tbl>
              <a:tblPr/>
              <a:tblGrid>
                <a:gridCol w="4432554">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Before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Now</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Handshake, then a session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Each request carries version + capabilities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State kept per connection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 returns a handle (an ID)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 sends requests to client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 replies "input_required"; client retries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Several ways to get updates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One subscriptions/listen stream</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093071"/>
            <a:ext cx="10566400" cy="657820"/>
          </a:xfrm>
          <a:prstGeom prst="roundRect">
            <a:avLst>
              <a:gd name="adj" fmla="val 15445"/>
            </a:avLst>
          </a:prstGeom>
          <a:solidFill>
            <a:srgbClr val="14213D"/>
          </a:solidFill>
          <a:ln/>
        </p:spPr>
        <p:txBody>
          <a:bodyPr wrap="square" lIns="224242" tIns="148042" rIns="0" bIns="122642" rtlCol="0" anchor="t">
            <a:normAutofit/>
          </a:bodyPr>
          <a:lstStyle/>
          <a:p>
            <a:pPr marL="0" indent="0" algn="l">
              <a:lnSpc>
                <a:spcPts val="2380"/>
              </a:lnSpc>
              <a:buNone/>
            </a:pPr>
            <a:r>
              <a:rPr lang="en-US" sz="1700" b="1" dirty="0">
                <a:solidFill>
                  <a:srgbClr val="F0A35E"/>
                </a:solidFill>
                <a:latin typeface="IBM Plex Sans" pitchFamily="34" charset="0"/>
                <a:ea typeface="IBM Plex Sans" pitchFamily="34" charset="-122"/>
                <a:cs typeface="IBM Plex Sans" pitchFamily="34" charset="-120"/>
              </a:rPr>
              <a:t>Why:</a:t>
            </a:r>
            <a:r>
              <a:rPr lang="en-US" sz="1700" dirty="0">
                <a:solidFill>
                  <a:srgbClr val="F7F5EF"/>
                </a:solidFill>
                <a:latin typeface="IBM Plex Sans" pitchFamily="34" charset="0"/>
                <a:ea typeface="IBM Plex Sans" pitchFamily="34" charset="-122"/>
                <a:cs typeface="IBM Plex Sans" pitchFamily="34" charset="-120"/>
              </a:rPr>
              <a:t> any request can go to any server copy, so it scales easily.</a:t>
            </a:r>
            <a:endParaRPr lang="en-US" sz="1700" dirty="0"/>
          </a:p>
        </p:txBody>
      </p:sp>
      <p:sp>
        <p:nvSpPr>
          <p:cNvPr id="6" name="Shape 3"/>
          <p:cNvSpPr/>
          <p:nvPr/>
        </p:nvSpPr>
        <p:spPr>
          <a:xfrm>
            <a:off x="812800" y="5004891"/>
            <a:ext cx="10566400" cy="787400"/>
          </a:xfrm>
          <a:prstGeom prst="roundRect">
            <a:avLst>
              <a:gd name="adj" fmla="val 9677"/>
            </a:avLst>
          </a:prstGeom>
          <a:solidFill>
            <a:srgbClr val="EFECE4"/>
          </a:solidFill>
          <a:ln/>
        </p:spPr>
        <p:txBody>
          <a:bodyPr/>
          <a:lstStyle/>
          <a:p>
            <a:endParaRPr lang="en-US"/>
          </a:p>
        </p:txBody>
      </p:sp>
      <p:pic>
        <p:nvPicPr>
          <p:cNvPr id="7" name="Image 0" descr="Book"/>
          <p:cNvPicPr>
            <a:picLocks noChangeAspect="1"/>
          </p:cNvPicPr>
          <p:nvPr/>
        </p:nvPicPr>
        <p:blipFill>
          <a:blip r:embed="rId3"/>
          <a:srcRect/>
          <a:stretch/>
        </p:blipFill>
        <p:spPr>
          <a:xfrm>
            <a:off x="990600" y="5131891"/>
            <a:ext cx="254000" cy="254000"/>
          </a:xfrm>
          <a:prstGeom prst="rect">
            <a:avLst/>
          </a:prstGeom>
        </p:spPr>
      </p:pic>
      <p:sp>
        <p:nvSpPr>
          <p:cNvPr id="8" name="Text 4"/>
          <p:cNvSpPr/>
          <p:nvPr/>
        </p:nvSpPr>
        <p:spPr>
          <a:xfrm>
            <a:off x="1397000" y="5131891"/>
            <a:ext cx="7378808"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Stateless</a:t>
            </a:r>
            <a:r>
              <a:rPr lang="en-US" sz="1500" dirty="0">
                <a:solidFill>
                  <a:srgbClr val="14213D"/>
                </a:solidFill>
                <a:latin typeface="IBM Plex Sans" pitchFamily="34" charset="0"/>
                <a:ea typeface="IBM Plex Sans" pitchFamily="34" charset="-122"/>
                <a:cs typeface="IBM Plex Sans" pitchFamily="34" charset="-120"/>
              </a:rPr>
              <a:t> = the server remembers nothing between requests; each one is complete.</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Handshake</a:t>
            </a:r>
            <a:r>
              <a:rPr lang="en-US" sz="1500" dirty="0">
                <a:solidFill>
                  <a:srgbClr val="14213D"/>
                </a:solidFill>
                <a:latin typeface="IBM Plex Sans" pitchFamily="34" charset="0"/>
                <a:ea typeface="IBM Plex Sans" pitchFamily="34" charset="-122"/>
                <a:cs typeface="IBM Plex Sans" pitchFamily="34" charset="-120"/>
              </a:rPr>
              <a:t> = an opening hello. </a:t>
            </a:r>
            <a:r>
              <a:rPr lang="en-US" sz="1500" b="1" dirty="0">
                <a:solidFill>
                  <a:srgbClr val="14213D"/>
                </a:solidFill>
                <a:latin typeface="IBM Plex Sans" pitchFamily="34" charset="0"/>
                <a:ea typeface="IBM Plex Sans" pitchFamily="34" charset="-122"/>
                <a:cs typeface="IBM Plex Sans" pitchFamily="34" charset="-120"/>
              </a:rPr>
              <a:t>Handle</a:t>
            </a:r>
            <a:r>
              <a:rPr lang="en-US" sz="1500" dirty="0">
                <a:solidFill>
                  <a:srgbClr val="14213D"/>
                </a:solidFill>
                <a:latin typeface="IBM Plex Sans" pitchFamily="34" charset="0"/>
                <a:ea typeface="IBM Plex Sans" pitchFamily="34" charset="-122"/>
                <a:cs typeface="IBM Plex Sans" pitchFamily="34" charset="-120"/>
              </a:rPr>
              <a:t> = an ID for saved state, e.g. basket_id.</a:t>
            </a:r>
            <a:endParaRPr lang="en-US" sz="1500" dirty="0"/>
          </a:p>
        </p:txBody>
      </p:sp>
      <p:sp>
        <p:nvSpPr>
          <p:cNvPr id="9" name="Text 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7 · RECENT CHANGES · 2026-07-28</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Deprecated and moved out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5787331" cy="2476500"/>
        </p:xfrm>
        <a:graphic>
          <a:graphicData uri="http://schemas.openxmlformats.org/drawingml/2006/table">
            <a:tbl>
              <a:tblPr/>
              <a:tblGrid>
                <a:gridCol w="2604299">
                  <a:extLst>
                    <a:ext uri="{9D8B030D-6E8A-4147-A177-3AD203B41FA5}">
                      <a16:colId xmlns:a16="http://schemas.microsoft.com/office/drawing/2014/main" val="20000"/>
                    </a:ext>
                  </a:extLst>
                </a:gridCol>
                <a:gridCol w="3183032">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Deprecated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Use instead</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Sampling</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Call an LLM API directly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Roots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Pass paths as arguments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Logging</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stderr or OpenTelemetry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Dynamic Client Registration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Client ID Metadata</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HTTP+SSE transport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Streamable HTTP</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6920805" y="1765796"/>
            <a:ext cx="4455220" cy="1245791"/>
          </a:xfrm>
          <a:prstGeom prst="roundRect">
            <a:avLst>
              <a:gd name="adj" fmla="val 7901"/>
            </a:avLst>
          </a:prstGeom>
          <a:solidFill>
            <a:srgbClr val="FFFEFB"/>
          </a:solidFill>
          <a:ln w="6350">
            <a:solidFill>
              <a:srgbClr val="E2DED3"/>
            </a:solidFill>
            <a:prstDash val="solid"/>
          </a:ln>
        </p:spPr>
        <p:txBody>
          <a:bodyPr/>
          <a:lstStyle/>
          <a:p>
            <a:endParaRPr lang="en-US"/>
          </a:p>
        </p:txBody>
      </p:sp>
      <p:sp>
        <p:nvSpPr>
          <p:cNvPr id="6" name="Text 3"/>
          <p:cNvSpPr/>
          <p:nvPr/>
        </p:nvSpPr>
        <p:spPr>
          <a:xfrm>
            <a:off x="7127180" y="1946771"/>
            <a:ext cx="416374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563C9"/>
                </a:solidFill>
                <a:latin typeface="IBM Plex Sans" pitchFamily="34" charset="0"/>
                <a:ea typeface="IBM Plex Sans" pitchFamily="34" charset="-122"/>
                <a:cs typeface="IBM Plex Sans" pitchFamily="34" charset="-120"/>
              </a:rPr>
              <a:t>Now extensions</a:t>
            </a:r>
            <a:endParaRPr lang="en-US" sz="1800" dirty="0"/>
          </a:p>
        </p:txBody>
      </p:sp>
      <p:sp>
        <p:nvSpPr>
          <p:cNvPr id="7" name="Text 4"/>
          <p:cNvSpPr/>
          <p:nvPr/>
        </p:nvSpPr>
        <p:spPr>
          <a:xfrm>
            <a:off x="7127180" y="2297212"/>
            <a:ext cx="416374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Tasks</a:t>
            </a:r>
            <a:r>
              <a:rPr lang="en-US" sz="1500" dirty="0">
                <a:solidFill>
                  <a:srgbClr val="4A5568"/>
                </a:solidFill>
                <a:latin typeface="IBM Plex Sans" pitchFamily="34" charset="0"/>
                <a:ea typeface="IBM Plex Sans" pitchFamily="34" charset="-122"/>
                <a:cs typeface="IBM Plex Sans" pitchFamily="34" charset="-120"/>
              </a:rPr>
              <a:t> for long jobs. </a:t>
            </a:r>
            <a:r>
              <a:rPr lang="en-US" sz="1500" b="1" dirty="0">
                <a:solidFill>
                  <a:srgbClr val="4A5568"/>
                </a:solidFill>
                <a:latin typeface="IBM Plex Sans" pitchFamily="34" charset="0"/>
                <a:ea typeface="IBM Plex Sans" pitchFamily="34" charset="-122"/>
                <a:cs typeface="IBM Plex Sans" pitchFamily="34" charset="-120"/>
              </a:rPr>
              <a:t>MCP Apps</a:t>
            </a:r>
            <a:r>
              <a:rPr lang="en-US" sz="1500" dirty="0">
                <a:solidFill>
                  <a:srgbClr val="4A5568"/>
                </a:solidFill>
                <a:latin typeface="IBM Plex Sans" pitchFamily="34" charset="0"/>
                <a:ea typeface="IBM Plex Sans" pitchFamily="34" charset="-122"/>
                <a:cs typeface="IBM Plex Sans" pitchFamily="34" charset="-120"/>
              </a:rPr>
              <a:t> for interactive UI.</a:t>
            </a:r>
            <a:endParaRPr lang="en-US" sz="1500" dirty="0"/>
          </a:p>
        </p:txBody>
      </p:sp>
      <p:sp>
        <p:nvSpPr>
          <p:cNvPr id="8" name="Shape 5"/>
          <p:cNvSpPr/>
          <p:nvPr/>
        </p:nvSpPr>
        <p:spPr>
          <a:xfrm>
            <a:off x="6920805" y="3170337"/>
            <a:ext cx="4455220" cy="979091"/>
          </a:xfrm>
          <a:prstGeom prst="roundRect">
            <a:avLst>
              <a:gd name="adj" fmla="val 10053"/>
            </a:avLst>
          </a:prstGeom>
          <a:solidFill>
            <a:srgbClr val="FFFEFB"/>
          </a:solidFill>
          <a:ln w="6350">
            <a:solidFill>
              <a:srgbClr val="E2DED3"/>
            </a:solidFill>
            <a:prstDash val="solid"/>
          </a:ln>
        </p:spPr>
        <p:txBody>
          <a:bodyPr/>
          <a:lstStyle/>
          <a:p>
            <a:endParaRPr lang="en-US"/>
          </a:p>
        </p:txBody>
      </p:sp>
      <p:sp>
        <p:nvSpPr>
          <p:cNvPr id="9" name="Text 6"/>
          <p:cNvSpPr/>
          <p:nvPr/>
        </p:nvSpPr>
        <p:spPr>
          <a:xfrm>
            <a:off x="7127180" y="3351312"/>
            <a:ext cx="416374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563C9"/>
                </a:solidFill>
                <a:latin typeface="IBM Plex Sans" pitchFamily="34" charset="0"/>
                <a:ea typeface="IBM Plex Sans" pitchFamily="34" charset="-122"/>
                <a:cs typeface="IBM Plex Sans" pitchFamily="34" charset="-120"/>
              </a:rPr>
              <a:t>Removed</a:t>
            </a:r>
            <a:endParaRPr lang="en-US" sz="1800" dirty="0"/>
          </a:p>
        </p:txBody>
      </p:sp>
      <p:sp>
        <p:nvSpPr>
          <p:cNvPr id="10" name="Text 7"/>
          <p:cNvSpPr/>
          <p:nvPr/>
        </p:nvSpPr>
        <p:spPr>
          <a:xfrm>
            <a:off x="7127180" y="3701752"/>
            <a:ext cx="424567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ping, logging/setLevel, resumable SSE streams</a:t>
            </a:r>
            <a:endParaRPr lang="en-US" sz="1500" dirty="0"/>
          </a:p>
        </p:txBody>
      </p:sp>
      <p:sp>
        <p:nvSpPr>
          <p:cNvPr id="11" name="Shape 8"/>
          <p:cNvSpPr/>
          <p:nvPr/>
        </p:nvSpPr>
        <p:spPr>
          <a:xfrm>
            <a:off x="812800" y="4505821"/>
            <a:ext cx="10566400" cy="1054100"/>
          </a:xfrm>
          <a:prstGeom prst="roundRect">
            <a:avLst>
              <a:gd name="adj" fmla="val 7229"/>
            </a:avLst>
          </a:prstGeom>
          <a:solidFill>
            <a:srgbClr val="EFECE4"/>
          </a:solidFill>
          <a:ln/>
        </p:spPr>
        <p:txBody>
          <a:bodyPr/>
          <a:lstStyle/>
          <a:p>
            <a:endParaRPr lang="en-US"/>
          </a:p>
        </p:txBody>
      </p:sp>
      <p:pic>
        <p:nvPicPr>
          <p:cNvPr id="12" name="Image 0" descr="Book"/>
          <p:cNvPicPr>
            <a:picLocks noChangeAspect="1"/>
          </p:cNvPicPr>
          <p:nvPr/>
        </p:nvPicPr>
        <p:blipFill>
          <a:blip r:embed="rId3"/>
          <a:srcRect/>
          <a:stretch/>
        </p:blipFill>
        <p:spPr>
          <a:xfrm>
            <a:off x="990600" y="4632821"/>
            <a:ext cx="254000" cy="254000"/>
          </a:xfrm>
          <a:prstGeom prst="rect">
            <a:avLst/>
          </a:prstGeom>
        </p:spPr>
      </p:pic>
      <p:sp>
        <p:nvSpPr>
          <p:cNvPr id="13" name="Text 9"/>
          <p:cNvSpPr/>
          <p:nvPr/>
        </p:nvSpPr>
        <p:spPr>
          <a:xfrm>
            <a:off x="1397000" y="4632821"/>
            <a:ext cx="6865379"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Deprecated</a:t>
            </a:r>
            <a:r>
              <a:rPr lang="en-US" sz="1500" dirty="0">
                <a:solidFill>
                  <a:srgbClr val="14213D"/>
                </a:solidFill>
                <a:latin typeface="IBM Plex Sans" pitchFamily="34" charset="0"/>
                <a:ea typeface="IBM Plex Sans" pitchFamily="34" charset="-122"/>
                <a:cs typeface="IBM Plex Sans" pitchFamily="34" charset="-120"/>
              </a:rPr>
              <a:t> = still works for at least 12 months, then gets removed.</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Sampling</a:t>
            </a:r>
            <a:r>
              <a:rPr lang="en-US" sz="1500" dirty="0">
                <a:solidFill>
                  <a:srgbClr val="14213D"/>
                </a:solidFill>
                <a:latin typeface="IBM Plex Sans" pitchFamily="34" charset="0"/>
                <a:ea typeface="IBM Plex Sans" pitchFamily="34" charset="-122"/>
                <a:cs typeface="IBM Plex Sans" pitchFamily="34" charset="-120"/>
              </a:rPr>
              <a:t> = server borrows the app's LLM. </a:t>
            </a:r>
            <a:r>
              <a:rPr lang="en-US" sz="1500" b="1" dirty="0">
                <a:solidFill>
                  <a:srgbClr val="14213D"/>
                </a:solidFill>
                <a:latin typeface="IBM Plex Sans" pitchFamily="34" charset="0"/>
                <a:ea typeface="IBM Plex Sans" pitchFamily="34" charset="-122"/>
                <a:cs typeface="IBM Plex Sans" pitchFamily="34" charset="-120"/>
              </a:rPr>
              <a:t>Roots</a:t>
            </a:r>
            <a:r>
              <a:rPr lang="en-US" sz="1500" dirty="0">
                <a:solidFill>
                  <a:srgbClr val="14213D"/>
                </a:solidFill>
                <a:latin typeface="IBM Plex Sans" pitchFamily="34" charset="0"/>
                <a:ea typeface="IBM Plex Sans" pitchFamily="34" charset="-122"/>
                <a:cs typeface="IBM Plex Sans" pitchFamily="34" charset="-120"/>
              </a:rPr>
              <a:t> = folders the server may use.</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Extension</a:t>
            </a:r>
            <a:r>
              <a:rPr lang="en-US" sz="1500" dirty="0">
                <a:solidFill>
                  <a:srgbClr val="14213D"/>
                </a:solidFill>
                <a:latin typeface="IBM Plex Sans" pitchFamily="34" charset="0"/>
                <a:ea typeface="IBM Plex Sans" pitchFamily="34" charset="-122"/>
                <a:cs typeface="IBM Plex Sans" pitchFamily="34" charset="-120"/>
              </a:rPr>
              <a:t> = an optional add-on outside the core spec.</a:t>
            </a:r>
            <a:endParaRPr lang="en-US" sz="1500" dirty="0"/>
          </a:p>
        </p:txBody>
      </p:sp>
      <p:sp>
        <p:nvSpPr>
          <p:cNvPr id="14" name="Text 10"/>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40850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0A35E"/>
                </a:solidFill>
                <a:latin typeface="JetBrains Mono" pitchFamily="49" charset="0"/>
                <a:ea typeface="JetBrains Mono" pitchFamily="49" charset="-122"/>
                <a:cs typeface="JetBrains Mono" pitchFamily="49" charset="-120"/>
              </a:rPr>
              <a:t>8 · LIVE DEMO</a:t>
            </a:r>
            <a:endParaRPr lang="en-US" sz="1600" dirty="0"/>
          </a:p>
        </p:txBody>
      </p:sp>
      <p:sp>
        <p:nvSpPr>
          <p:cNvPr id="3" name="Text 1"/>
          <p:cNvSpPr>
            <a:spLocks noGrp="1"/>
          </p:cNvSpPr>
          <p:nvPr>
            <p:ph type="title"/>
          </p:nvPr>
        </p:nvSpPr>
        <p:spPr>
          <a:xfrm>
            <a:off x="812800" y="1997770"/>
            <a:ext cx="10883392"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7F5EF"/>
                </a:solidFill>
                <a:latin typeface="IBM Plex Sans" pitchFamily="34" charset="0"/>
                <a:ea typeface="IBM Plex Sans" pitchFamily="34" charset="-122"/>
                <a:cs typeface="IBM Plex Sans" pitchFamily="34" charset="-120"/>
              </a:rPr>
              <a:t>Paper Library:</a:t>
            </a:r>
            <a:endParaRPr lang="en-US" sz="5200" dirty="0"/>
          </a:p>
          <a:p>
            <a:pPr marL="0" indent="0" algn="l">
              <a:lnSpc>
                <a:spcPts val="5460"/>
              </a:lnSpc>
              <a:buNone/>
            </a:pPr>
            <a:r>
              <a:rPr lang="en-US" sz="5200" b="1" i="0" dirty="0">
                <a:solidFill>
                  <a:srgbClr val="F7F5EF"/>
                </a:solidFill>
                <a:latin typeface="IBM Plex Sans" pitchFamily="34" charset="0"/>
                <a:ea typeface="IBM Plex Sans" pitchFamily="34" charset="-122"/>
                <a:cs typeface="IBM Plex Sans" pitchFamily="34" charset="-120"/>
              </a:rPr>
              <a:t>one resource, two tools</a:t>
            </a:r>
            <a:endParaRPr lang="en-US" sz="5200" dirty="0"/>
          </a:p>
        </p:txBody>
      </p:sp>
      <p:sp>
        <p:nvSpPr>
          <p:cNvPr id="4" name="Shape 2"/>
          <p:cNvSpPr/>
          <p:nvPr/>
        </p:nvSpPr>
        <p:spPr>
          <a:xfrm>
            <a:off x="812800" y="3689251"/>
            <a:ext cx="3420467" cy="985441"/>
          </a:xfrm>
          <a:prstGeom prst="roundRect">
            <a:avLst>
              <a:gd name="adj" fmla="val 9021"/>
            </a:avLst>
          </a:prstGeom>
          <a:solidFill>
            <a:srgbClr val="1E2D4D"/>
          </a:solidFill>
          <a:ln/>
        </p:spPr>
        <p:txBody>
          <a:bodyPr/>
          <a:lstStyle/>
          <a:p>
            <a:endParaRPr lang="en-US"/>
          </a:p>
        </p:txBody>
      </p:sp>
      <p:sp>
        <p:nvSpPr>
          <p:cNvPr id="5" name="Shape 3"/>
          <p:cNvSpPr/>
          <p:nvPr/>
        </p:nvSpPr>
        <p:spPr>
          <a:xfrm>
            <a:off x="812800" y="3689251"/>
            <a:ext cx="3420467" cy="985441"/>
          </a:xfrm>
          <a:custGeom>
            <a:avLst/>
            <a:gdLst/>
            <a:ahLst/>
            <a:cxnLst/>
            <a:rect l="l" t="t" r="r" b="b"/>
            <a:pathLst>
              <a:path w="3420467" h="985441">
                <a:moveTo>
                  <a:pt x="0" y="88900"/>
                </a:moveTo>
                <a:lnTo>
                  <a:pt x="0" y="88900"/>
                </a:lnTo>
                <a:arcTo wR="88900" hR="88900" stAng="10800000" swAng="5400000"/>
                <a:lnTo>
                  <a:pt x="3331567" y="0"/>
                </a:lnTo>
                <a:arcTo wR="88900" hR="88900" stAng="16200000" swAng="5400000"/>
                <a:lnTo>
                  <a:pt x="3420467" y="88900"/>
                </a:lnTo>
                <a:arcTo wR="88900" hR="50800" stAng="0" swAng="-5400000"/>
                <a:lnTo>
                  <a:pt x="88900" y="38100"/>
                </a:lnTo>
                <a:arcTo wR="88900" hR="50800" stAng="16200000" swAng="-5400000"/>
                <a:close/>
              </a:path>
            </a:pathLst>
          </a:custGeom>
          <a:solidFill>
            <a:srgbClr val="F0A35E"/>
          </a:solidFill>
          <a:ln/>
        </p:spPr>
        <p:txBody>
          <a:bodyPr/>
          <a:lstStyle/>
          <a:p>
            <a:endParaRPr lang="en-US"/>
          </a:p>
        </p:txBody>
      </p:sp>
      <p:sp>
        <p:nvSpPr>
          <p:cNvPr id="6" name="Text 4"/>
          <p:cNvSpPr/>
          <p:nvPr/>
        </p:nvSpPr>
        <p:spPr>
          <a:xfrm>
            <a:off x="990600" y="3905151"/>
            <a:ext cx="31568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A35E"/>
                </a:solidFill>
                <a:latin typeface="IBM Plex Sans" pitchFamily="34" charset="0"/>
                <a:ea typeface="IBM Plex Sans" pitchFamily="34" charset="-122"/>
                <a:cs typeface="IBM Plex Sans" pitchFamily="34" charset="-120"/>
              </a:rPr>
              <a:t>RESOURCE</a:t>
            </a:r>
            <a:endParaRPr lang="en-US" sz="1400" dirty="0"/>
          </a:p>
        </p:txBody>
      </p:sp>
      <p:sp>
        <p:nvSpPr>
          <p:cNvPr id="7" name="Text 5"/>
          <p:cNvSpPr/>
          <p:nvPr/>
        </p:nvSpPr>
        <p:spPr>
          <a:xfrm>
            <a:off x="990600" y="4230191"/>
            <a:ext cx="315681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5EF"/>
                </a:solidFill>
                <a:latin typeface="JetBrains Mono" pitchFamily="49" charset="0"/>
                <a:ea typeface="JetBrains Mono" pitchFamily="49" charset="-122"/>
                <a:cs typeface="JetBrains Mono" pitchFamily="49" charset="-120"/>
              </a:rPr>
              <a:t>reading-list</a:t>
            </a:r>
            <a:endParaRPr lang="en-US" sz="1500" dirty="0"/>
          </a:p>
        </p:txBody>
      </p:sp>
      <p:sp>
        <p:nvSpPr>
          <p:cNvPr id="8" name="Shape 6"/>
          <p:cNvSpPr/>
          <p:nvPr/>
        </p:nvSpPr>
        <p:spPr>
          <a:xfrm>
            <a:off x="4385667" y="3689251"/>
            <a:ext cx="3420566" cy="985441"/>
          </a:xfrm>
          <a:prstGeom prst="roundRect">
            <a:avLst>
              <a:gd name="adj" fmla="val 9021"/>
            </a:avLst>
          </a:prstGeom>
          <a:solidFill>
            <a:srgbClr val="1E2D4D"/>
          </a:solidFill>
          <a:ln/>
        </p:spPr>
        <p:txBody>
          <a:bodyPr/>
          <a:lstStyle/>
          <a:p>
            <a:endParaRPr lang="en-US"/>
          </a:p>
        </p:txBody>
      </p:sp>
      <p:sp>
        <p:nvSpPr>
          <p:cNvPr id="9" name="Shape 7"/>
          <p:cNvSpPr/>
          <p:nvPr/>
        </p:nvSpPr>
        <p:spPr>
          <a:xfrm>
            <a:off x="4385667" y="3689251"/>
            <a:ext cx="3420566" cy="985441"/>
          </a:xfrm>
          <a:custGeom>
            <a:avLst/>
            <a:gdLst/>
            <a:ahLst/>
            <a:cxnLst/>
            <a:rect l="l" t="t" r="r" b="b"/>
            <a:pathLst>
              <a:path w="3420566" h="985441">
                <a:moveTo>
                  <a:pt x="0" y="88900"/>
                </a:moveTo>
                <a:lnTo>
                  <a:pt x="0" y="88900"/>
                </a:lnTo>
                <a:arcTo wR="88900" hR="88900" stAng="10800000" swAng="5400000"/>
                <a:lnTo>
                  <a:pt x="3331666" y="0"/>
                </a:lnTo>
                <a:arcTo wR="88900" hR="88900" stAng="16200000" swAng="5400000"/>
                <a:lnTo>
                  <a:pt x="3420566" y="88900"/>
                </a:lnTo>
                <a:arcTo wR="88900" hR="50800" stAng="0" swAng="-5400000"/>
                <a:lnTo>
                  <a:pt x="88900" y="38100"/>
                </a:lnTo>
                <a:arcTo wR="88900" hR="50800" stAng="16200000" swAng="-5400000"/>
                <a:close/>
              </a:path>
            </a:pathLst>
          </a:custGeom>
          <a:solidFill>
            <a:srgbClr val="7FA8F0"/>
          </a:solidFill>
          <a:ln/>
        </p:spPr>
        <p:txBody>
          <a:bodyPr/>
          <a:lstStyle/>
          <a:p>
            <a:endParaRPr lang="en-US"/>
          </a:p>
        </p:txBody>
      </p:sp>
      <p:sp>
        <p:nvSpPr>
          <p:cNvPr id="10" name="Text 8"/>
          <p:cNvSpPr/>
          <p:nvPr/>
        </p:nvSpPr>
        <p:spPr>
          <a:xfrm>
            <a:off x="4563467" y="3905151"/>
            <a:ext cx="315691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8F0"/>
                </a:solidFill>
                <a:latin typeface="IBM Plex Sans" pitchFamily="34" charset="0"/>
                <a:ea typeface="IBM Plex Sans" pitchFamily="34" charset="-122"/>
                <a:cs typeface="IBM Plex Sans" pitchFamily="34" charset="-120"/>
              </a:rPr>
              <a:t>TOOL · READ ONLY</a:t>
            </a:r>
            <a:endParaRPr lang="en-US" sz="1400" dirty="0"/>
          </a:p>
        </p:txBody>
      </p:sp>
      <p:sp>
        <p:nvSpPr>
          <p:cNvPr id="11" name="Text 9"/>
          <p:cNvSpPr/>
          <p:nvPr/>
        </p:nvSpPr>
        <p:spPr>
          <a:xfrm>
            <a:off x="4563467" y="4230191"/>
            <a:ext cx="315691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5EF"/>
                </a:solidFill>
                <a:latin typeface="JetBrains Mono" pitchFamily="49" charset="0"/>
                <a:ea typeface="JetBrains Mono" pitchFamily="49" charset="-122"/>
                <a:cs typeface="JetBrains Mono" pitchFamily="49" charset="-120"/>
              </a:rPr>
              <a:t>search_papers</a:t>
            </a:r>
            <a:endParaRPr lang="en-US" sz="1500" dirty="0"/>
          </a:p>
        </p:txBody>
      </p:sp>
      <p:sp>
        <p:nvSpPr>
          <p:cNvPr id="12" name="Shape 10"/>
          <p:cNvSpPr/>
          <p:nvPr/>
        </p:nvSpPr>
        <p:spPr>
          <a:xfrm>
            <a:off x="7958634" y="3689251"/>
            <a:ext cx="3420566" cy="985441"/>
          </a:xfrm>
          <a:prstGeom prst="roundRect">
            <a:avLst>
              <a:gd name="adj" fmla="val 9021"/>
            </a:avLst>
          </a:prstGeom>
          <a:solidFill>
            <a:srgbClr val="1E2D4D"/>
          </a:solidFill>
          <a:ln/>
        </p:spPr>
        <p:txBody>
          <a:bodyPr/>
          <a:lstStyle/>
          <a:p>
            <a:endParaRPr lang="en-US"/>
          </a:p>
        </p:txBody>
      </p:sp>
      <p:sp>
        <p:nvSpPr>
          <p:cNvPr id="13" name="Shape 11"/>
          <p:cNvSpPr/>
          <p:nvPr/>
        </p:nvSpPr>
        <p:spPr>
          <a:xfrm>
            <a:off x="7958634" y="3689251"/>
            <a:ext cx="3420566" cy="985441"/>
          </a:xfrm>
          <a:custGeom>
            <a:avLst/>
            <a:gdLst/>
            <a:ahLst/>
            <a:cxnLst/>
            <a:rect l="l" t="t" r="r" b="b"/>
            <a:pathLst>
              <a:path w="3420566" h="985441">
                <a:moveTo>
                  <a:pt x="0" y="88900"/>
                </a:moveTo>
                <a:lnTo>
                  <a:pt x="0" y="88900"/>
                </a:lnTo>
                <a:arcTo wR="88900" hR="88900" stAng="10800000" swAng="5400000"/>
                <a:lnTo>
                  <a:pt x="3331666" y="0"/>
                </a:lnTo>
                <a:arcTo wR="88900" hR="88900" stAng="16200000" swAng="5400000"/>
                <a:lnTo>
                  <a:pt x="3420566" y="88900"/>
                </a:lnTo>
                <a:arcTo wR="88900" hR="50800" stAng="0" swAng="-5400000"/>
                <a:lnTo>
                  <a:pt x="88900" y="38100"/>
                </a:lnTo>
                <a:arcTo wR="88900" hR="50800" stAng="16200000" swAng="-5400000"/>
                <a:close/>
              </a:path>
            </a:pathLst>
          </a:custGeom>
          <a:solidFill>
            <a:srgbClr val="7FA8F0"/>
          </a:solidFill>
          <a:ln/>
        </p:spPr>
        <p:txBody>
          <a:bodyPr/>
          <a:lstStyle/>
          <a:p>
            <a:endParaRPr lang="en-US"/>
          </a:p>
        </p:txBody>
      </p:sp>
      <p:sp>
        <p:nvSpPr>
          <p:cNvPr id="14" name="Text 12"/>
          <p:cNvSpPr/>
          <p:nvPr/>
        </p:nvSpPr>
        <p:spPr>
          <a:xfrm>
            <a:off x="8136434" y="3905151"/>
            <a:ext cx="315691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8F0"/>
                </a:solidFill>
                <a:latin typeface="IBM Plex Sans" pitchFamily="34" charset="0"/>
                <a:ea typeface="IBM Plex Sans" pitchFamily="34" charset="-122"/>
                <a:cs typeface="IBM Plex Sans" pitchFamily="34" charset="-120"/>
              </a:rPr>
              <a:t>TOOL · CHANGES DATA</a:t>
            </a:r>
            <a:endParaRPr lang="en-US" sz="1400" dirty="0"/>
          </a:p>
        </p:txBody>
      </p:sp>
      <p:sp>
        <p:nvSpPr>
          <p:cNvPr id="15" name="Text 13"/>
          <p:cNvSpPr/>
          <p:nvPr/>
        </p:nvSpPr>
        <p:spPr>
          <a:xfrm>
            <a:off x="8136434" y="4230191"/>
            <a:ext cx="315691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5EF"/>
                </a:solidFill>
                <a:latin typeface="JetBrains Mono" pitchFamily="49" charset="0"/>
                <a:ea typeface="JetBrains Mono" pitchFamily="49" charset="-122"/>
                <a:cs typeface="JetBrains Mono" pitchFamily="49" charset="-120"/>
              </a:rPr>
              <a:t>add_note</a:t>
            </a:r>
            <a:endParaRPr lang="en-US" sz="1500" dirty="0"/>
          </a:p>
        </p:txBody>
      </p:sp>
      <p:sp>
        <p:nvSpPr>
          <p:cNvPr id="16" name="Text 14"/>
          <p:cNvSpPr/>
          <p:nvPr/>
        </p:nvSpPr>
        <p:spPr>
          <a:xfrm>
            <a:off x="812800" y="497949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pitchFamily="34" charset="0"/>
                <a:ea typeface="IBM Plex Sans" pitchFamily="34" charset="-122"/>
                <a:cs typeface="IBM Plex Sans" pitchFamily="34" charset="-120"/>
              </a:rPr>
              <a:t>Plus a resource template and a prompt · Python SDK 2.2</a:t>
            </a:r>
            <a:endParaRPr lang="en-US" sz="1500" dirty="0"/>
          </a:p>
        </p:txBody>
      </p:sp>
      <p:sp>
        <p:nvSpPr>
          <p:cNvPr id="17" name="Text 15"/>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3645"/>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8 · LIVE DEMO</a:t>
            </a:r>
            <a:endParaRPr lang="en-US" sz="1400" dirty="0"/>
          </a:p>
        </p:txBody>
      </p:sp>
      <p:sp>
        <p:nvSpPr>
          <p:cNvPr id="3" name="Text 1"/>
          <p:cNvSpPr>
            <a:spLocks noGrp="1"/>
          </p:cNvSpPr>
          <p:nvPr>
            <p:ph type="title"/>
          </p:nvPr>
        </p:nvSpPr>
        <p:spPr>
          <a:xfrm>
            <a:off x="812800" y="1061045"/>
            <a:ext cx="10883392" cy="471388"/>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The server in a few lines</a:t>
            </a:r>
            <a:endParaRPr lang="en-US" sz="3200" dirty="0"/>
          </a:p>
        </p:txBody>
      </p:sp>
      <p:sp>
        <p:nvSpPr>
          <p:cNvPr id="4" name="Text 2"/>
          <p:cNvSpPr/>
          <p:nvPr/>
        </p:nvSpPr>
        <p:spPr>
          <a:xfrm>
            <a:off x="812800" y="1761034"/>
            <a:ext cx="7133332" cy="3040559"/>
          </a:xfrm>
          <a:prstGeom prst="roundRect">
            <a:avLst>
              <a:gd name="adj" fmla="val 3341"/>
            </a:avLst>
          </a:prstGeom>
          <a:solidFill>
            <a:srgbClr val="1B2740"/>
          </a:solidFill>
          <a:ln/>
        </p:spPr>
        <p:txBody>
          <a:bodyPr wrap="square" lIns="198842" tIns="173442" rIns="0" bIns="148042" rtlCol="0" anchor="t">
            <a:normAutofit/>
          </a:bodyPr>
          <a:lstStyle/>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mcp = MCPServer("paper-library")</a:t>
            </a:r>
            <a:endParaRPr lang="en-US" sz="1396" dirty="0"/>
          </a:p>
          <a:p>
            <a:pPr marL="0" indent="0" algn="l">
              <a:lnSpc>
                <a:spcPts val="1884"/>
              </a:lnSpc>
              <a:buNone/>
            </a:pPr>
            <a:r>
              <a:rPr lang="en-US" sz="1396" dirty="0">
                <a:solidFill>
                  <a:srgbClr val="F0A35E"/>
                </a:solidFill>
                <a:latin typeface="JetBrains Mono" pitchFamily="49" charset="0"/>
                <a:ea typeface="JetBrains Mono" pitchFamily="49" charset="-122"/>
                <a:cs typeface="JetBrains Mono" pitchFamily="49" charset="-120"/>
              </a:rPr>
              <a:t>@mcp.resource("papers://reading-list")</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def reading_list() -&gt; str:</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    return json.dumps(all_papers())</a:t>
            </a:r>
            <a:endParaRPr lang="en-US" sz="1396" dirty="0"/>
          </a:p>
          <a:p>
            <a:pPr marL="0" indent="0" algn="l">
              <a:lnSpc>
                <a:spcPts val="1884"/>
              </a:lnSpc>
              <a:buNone/>
            </a:pPr>
            <a:r>
              <a:rPr lang="en-US" sz="1396" dirty="0">
                <a:solidFill>
                  <a:srgbClr val="7FA8F0"/>
                </a:solidFill>
                <a:latin typeface="JetBrains Mono" pitchFamily="49" charset="0"/>
                <a:ea typeface="JetBrains Mono" pitchFamily="49" charset="-122"/>
                <a:cs typeface="JetBrains Mono" pitchFamily="49" charset="-120"/>
              </a:rPr>
              <a:t>@mcp.tool(annotations=ReadOnly)</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def search_papers(query: str) -&gt; list:</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    return find(query)</a:t>
            </a:r>
            <a:endParaRPr lang="en-US" sz="1396" dirty="0"/>
          </a:p>
          <a:p>
            <a:pPr marL="0" indent="0" algn="l">
              <a:lnSpc>
                <a:spcPts val="1884"/>
              </a:lnSpc>
              <a:buNone/>
            </a:pPr>
            <a:r>
              <a:rPr lang="en-US" sz="1396" dirty="0">
                <a:solidFill>
                  <a:srgbClr val="7FA8F0"/>
                </a:solidFill>
                <a:latin typeface="JetBrains Mono" pitchFamily="49" charset="0"/>
                <a:ea typeface="JetBrains Mono" pitchFamily="49" charset="-122"/>
                <a:cs typeface="JetBrains Mono" pitchFamily="49" charset="-120"/>
              </a:rPr>
              <a:t>@mcp.tool()</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def add_note(paper_id: str, note: str):</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    NOTES[paper_id].append(note)</a:t>
            </a:r>
            <a:endParaRPr lang="en-US" sz="1396" dirty="0"/>
          </a:p>
          <a:p>
            <a:pPr marL="0" indent="0" algn="l">
              <a:lnSpc>
                <a:spcPts val="1884"/>
              </a:lnSpc>
              <a:buNone/>
            </a:pPr>
            <a:r>
              <a:rPr lang="en-US" sz="1396" dirty="0">
                <a:solidFill>
                  <a:srgbClr val="E6EDF7"/>
                </a:solidFill>
                <a:latin typeface="JetBrains Mono" pitchFamily="49" charset="0"/>
                <a:ea typeface="JetBrains Mono" pitchFamily="49" charset="-122"/>
                <a:cs typeface="JetBrains Mono" pitchFamily="49" charset="-120"/>
              </a:rPr>
              <a:t>mcp.run()  </a:t>
            </a:r>
            <a:r>
              <a:rPr lang="en-US" sz="1396" dirty="0">
                <a:solidFill>
                  <a:srgbClr val="8FA3BF"/>
                </a:solidFill>
                <a:latin typeface="JetBrains Mono" pitchFamily="49" charset="0"/>
                <a:ea typeface="JetBrains Mono" pitchFamily="49" charset="-122"/>
                <a:cs typeface="JetBrains Mono" pitchFamily="49" charset="-120"/>
              </a:rPr>
              <a:t># stdio</a:t>
            </a:r>
            <a:endParaRPr lang="en-US" sz="1396" dirty="0"/>
          </a:p>
        </p:txBody>
      </p:sp>
      <p:sp>
        <p:nvSpPr>
          <p:cNvPr id="5" name="Text 3"/>
          <p:cNvSpPr/>
          <p:nvPr/>
        </p:nvSpPr>
        <p:spPr>
          <a:xfrm>
            <a:off x="8203307" y="1764209"/>
            <a:ext cx="3172718" cy="577850"/>
          </a:xfrm>
          <a:prstGeom prst="roundRect">
            <a:avLst>
              <a:gd name="adj" fmla="val 14835"/>
            </a:avLst>
          </a:prstGeom>
          <a:solidFill>
            <a:srgbClr val="FFFEFB"/>
          </a:solidFill>
          <a:ln w="6350">
            <a:solidFill>
              <a:srgbClr val="E2DED3"/>
            </a:solidFill>
            <a:prstDash val="solid"/>
          </a:ln>
        </p:spPr>
        <p:txBody>
          <a:bodyPr wrap="square" lIns="155867" tIns="130467" rIns="71544" bIns="105067"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Type hints</a:t>
            </a:r>
            <a:r>
              <a:rPr lang="en-US" sz="1500" dirty="0">
                <a:solidFill>
                  <a:srgbClr val="14213D"/>
                </a:solidFill>
                <a:latin typeface="IBM Plex Sans" pitchFamily="34" charset="0"/>
                <a:ea typeface="IBM Plex Sans" pitchFamily="34" charset="-122"/>
                <a:cs typeface="IBM Plex Sans" pitchFamily="34" charset="-120"/>
              </a:rPr>
              <a:t> → input schema</a:t>
            </a:r>
            <a:endParaRPr lang="en-US" sz="1500" dirty="0"/>
          </a:p>
        </p:txBody>
      </p:sp>
      <p:sp>
        <p:nvSpPr>
          <p:cNvPr id="6" name="Text 4"/>
          <p:cNvSpPr/>
          <p:nvPr/>
        </p:nvSpPr>
        <p:spPr>
          <a:xfrm>
            <a:off x="8203307" y="2500809"/>
            <a:ext cx="3172718" cy="577850"/>
          </a:xfrm>
          <a:prstGeom prst="roundRect">
            <a:avLst>
              <a:gd name="adj" fmla="val 14835"/>
            </a:avLst>
          </a:prstGeom>
          <a:solidFill>
            <a:srgbClr val="FFFEFB"/>
          </a:solidFill>
          <a:ln w="6350">
            <a:solidFill>
              <a:srgbClr val="E2DED3"/>
            </a:solidFill>
            <a:prstDash val="solid"/>
          </a:ln>
        </p:spPr>
        <p:txBody>
          <a:bodyPr wrap="square" lIns="155867" tIns="130467" rIns="71544" bIns="105067"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Return type</a:t>
            </a:r>
            <a:r>
              <a:rPr lang="en-US" sz="1500" dirty="0">
                <a:solidFill>
                  <a:srgbClr val="14213D"/>
                </a:solidFill>
                <a:latin typeface="IBM Plex Sans" pitchFamily="34" charset="0"/>
                <a:ea typeface="IBM Plex Sans" pitchFamily="34" charset="-122"/>
                <a:cs typeface="IBM Plex Sans" pitchFamily="34" charset="-120"/>
              </a:rPr>
              <a:t> → output schema</a:t>
            </a:r>
            <a:endParaRPr lang="en-US" sz="1500" dirty="0"/>
          </a:p>
        </p:txBody>
      </p:sp>
      <p:sp>
        <p:nvSpPr>
          <p:cNvPr id="7" name="Text 5"/>
          <p:cNvSpPr/>
          <p:nvPr/>
        </p:nvSpPr>
        <p:spPr>
          <a:xfrm>
            <a:off x="8203307" y="3237409"/>
            <a:ext cx="3172718" cy="577850"/>
          </a:xfrm>
          <a:prstGeom prst="roundRect">
            <a:avLst>
              <a:gd name="adj" fmla="val 14835"/>
            </a:avLst>
          </a:prstGeom>
          <a:solidFill>
            <a:srgbClr val="FFFEFB"/>
          </a:solidFill>
          <a:ln w="6350">
            <a:solidFill>
              <a:srgbClr val="E2DED3"/>
            </a:solidFill>
            <a:prstDash val="solid"/>
          </a:ln>
        </p:spPr>
        <p:txBody>
          <a:bodyPr wrap="square" lIns="155867" tIns="130467" rIns="71544" bIns="105067"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Decorator</a:t>
            </a:r>
            <a:r>
              <a:rPr lang="en-US" sz="1500" dirty="0">
                <a:solidFill>
                  <a:srgbClr val="14213D"/>
                </a:solidFill>
                <a:latin typeface="IBM Plex Sans" pitchFamily="34" charset="0"/>
                <a:ea typeface="IBM Plex Sans" pitchFamily="34" charset="-122"/>
                <a:cs typeface="IBM Plex Sans" pitchFamily="34" charset="-120"/>
              </a:rPr>
              <a:t> → tool or resource</a:t>
            </a:r>
            <a:endParaRPr lang="en-US" sz="1500" dirty="0"/>
          </a:p>
        </p:txBody>
      </p:sp>
      <p:sp>
        <p:nvSpPr>
          <p:cNvPr id="8" name="Shape 6"/>
          <p:cNvSpPr/>
          <p:nvPr/>
        </p:nvSpPr>
        <p:spPr>
          <a:xfrm>
            <a:off x="812800" y="5055592"/>
            <a:ext cx="10566400" cy="786408"/>
          </a:xfrm>
          <a:prstGeom prst="roundRect">
            <a:avLst>
              <a:gd name="adj" fmla="val 9690"/>
            </a:avLst>
          </a:prstGeom>
          <a:solidFill>
            <a:srgbClr val="EFECE4"/>
          </a:solidFill>
          <a:ln/>
        </p:spPr>
        <p:txBody>
          <a:bodyPr/>
          <a:lstStyle/>
          <a:p>
            <a:endParaRPr lang="en-US"/>
          </a:p>
        </p:txBody>
      </p:sp>
      <p:pic>
        <p:nvPicPr>
          <p:cNvPr id="9" name="Image 0" descr="Book"/>
          <p:cNvPicPr>
            <a:picLocks noChangeAspect="1"/>
          </p:cNvPicPr>
          <p:nvPr/>
        </p:nvPicPr>
        <p:blipFill>
          <a:blip r:embed="rId3"/>
          <a:srcRect/>
          <a:stretch/>
        </p:blipFill>
        <p:spPr>
          <a:xfrm>
            <a:off x="990600" y="5182592"/>
            <a:ext cx="254000" cy="254000"/>
          </a:xfrm>
          <a:prstGeom prst="rect">
            <a:avLst/>
          </a:prstGeom>
        </p:spPr>
      </p:pic>
      <p:sp>
        <p:nvSpPr>
          <p:cNvPr id="10" name="Text 7"/>
          <p:cNvSpPr/>
          <p:nvPr/>
        </p:nvSpPr>
        <p:spPr>
          <a:xfrm>
            <a:off x="1397000" y="5182592"/>
            <a:ext cx="709920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Decorator</a:t>
            </a:r>
            <a:r>
              <a:rPr lang="en-US" sz="1500" dirty="0">
                <a:solidFill>
                  <a:srgbClr val="14213D"/>
                </a:solidFill>
                <a:latin typeface="IBM Plex Sans" pitchFamily="34" charset="0"/>
                <a:ea typeface="IBM Plex Sans" pitchFamily="34" charset="-122"/>
                <a:cs typeface="IBM Plex Sans" pitchFamily="34" charset="-120"/>
              </a:rPr>
              <a:t> = the @ line above a function; it registers that function with the server.</a:t>
            </a:r>
            <a:endParaRPr lang="en-US" sz="1500" dirty="0"/>
          </a:p>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Type hint</a:t>
            </a:r>
            <a:r>
              <a:rPr lang="en-US" sz="1500" dirty="0">
                <a:solidFill>
                  <a:srgbClr val="14213D"/>
                </a:solidFill>
                <a:latin typeface="IBM Plex Sans" pitchFamily="34" charset="0"/>
                <a:ea typeface="IBM Plex Sans" pitchFamily="34" charset="-122"/>
                <a:cs typeface="IBM Plex Sans" pitchFamily="34" charset="-120"/>
              </a:rPr>
              <a:t> = a label like str or list that says what kind of value is expected.</a:t>
            </a:r>
            <a:endParaRPr lang="en-US" sz="1500" dirty="0"/>
          </a:p>
        </p:txBody>
      </p:sp>
      <p:sp>
        <p:nvSpPr>
          <p:cNvPr id="11" name="Text 8"/>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8 · LIVE DEMO</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to watch for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5321"/>
          <a:ext cx="10553700" cy="2889250"/>
        </p:xfrm>
        <a:graphic>
          <a:graphicData uri="http://schemas.openxmlformats.org/drawingml/2006/table">
            <a:tbl>
              <a:tblPr/>
              <a:tblGrid>
                <a:gridCol w="4221480">
                  <a:extLst>
                    <a:ext uri="{9D8B030D-6E8A-4147-A177-3AD203B41FA5}">
                      <a16:colId xmlns:a16="http://schemas.microsoft.com/office/drawing/2014/main" val="20000"/>
                    </a:ext>
                  </a:extLst>
                </a:gridCol>
                <a:gridCol w="6332220">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Message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Notice</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server/discover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No handshake needed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tools/list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Schemas made from type hints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resources/read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Data back; nothing changes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search_papers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Text plus structured result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add_note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Data changes; read shows the note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add_note("gpt5")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isError: true, with a fix hint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4918571"/>
            <a:ext cx="10566400" cy="571500"/>
          </a:xfrm>
          <a:prstGeom prst="roundRect">
            <a:avLst>
              <a:gd name="adj" fmla="val 15556"/>
            </a:avLst>
          </a:prstGeom>
          <a:solidFill>
            <a:srgbClr val="1B2740"/>
          </a:solidFill>
          <a:ln/>
        </p:spPr>
        <p:txBody>
          <a:bodyPr wrap="square" lIns="177162" tIns="126362" rIns="0" bIns="100962" rtlCol="0" anchor="t">
            <a:normAutofit/>
          </a:bodyPr>
          <a:lstStyle/>
          <a:p>
            <a:pPr marL="0" indent="0" algn="l">
              <a:lnSpc>
                <a:spcPts val="2100"/>
              </a:lnSpc>
              <a:buNone/>
            </a:pPr>
            <a:r>
              <a:rPr lang="en-US" sz="1500" dirty="0">
                <a:solidFill>
                  <a:srgbClr val="8FA3BF"/>
                </a:solidFill>
                <a:latin typeface="JetBrains Mono" pitchFamily="49" charset="0"/>
                <a:ea typeface="JetBrains Mono" pitchFamily="49" charset="-122"/>
                <a:cs typeface="JetBrains Mono" pitchFamily="49" charset="-120"/>
              </a:rPr>
              <a:t>$</a:t>
            </a:r>
            <a:r>
              <a:rPr lang="en-US" sz="1500" dirty="0">
                <a:solidFill>
                  <a:srgbClr val="E6EDF7"/>
                </a:solidFill>
                <a:latin typeface="JetBrains Mono" pitchFamily="49" charset="0"/>
                <a:ea typeface="JetBrains Mono" pitchFamily="49" charset="-122"/>
                <a:cs typeface="JetBrains Mono" pitchFamily="49" charset="-120"/>
              </a:rPr>
              <a:t> python wire_demo.py --pause</a:t>
            </a:r>
            <a:endParaRPr lang="en-US" sz="1500" dirty="0"/>
          </a:p>
        </p:txBody>
      </p:sp>
      <p:sp>
        <p:nvSpPr>
          <p:cNvPr id="6" name="Text 3"/>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25A12"/>
                </a:solidFill>
                <a:latin typeface="JetBrains Mono" pitchFamily="49" charset="0"/>
                <a:ea typeface="JetBrains Mono" pitchFamily="49" charset="-122"/>
                <a:cs typeface="JetBrains Mono" pitchFamily="49" charset="-120"/>
              </a:rPr>
              <a:t>SUMMARY</a:t>
            </a:r>
            <a:endParaRPr lang="en-US" sz="1400" dirty="0"/>
          </a:p>
        </p:txBody>
      </p:sp>
      <p:sp>
        <p:nvSpPr>
          <p:cNvPr id="3" name="Text 1"/>
          <p:cNvSpPr>
            <a:spLocks noGrp="1"/>
          </p:cNvSpPr>
          <p:nvPr>
            <p:ph type="title"/>
          </p:nvPr>
        </p:nvSpPr>
        <p:spPr>
          <a:xfrm>
            <a:off x="812800" y="1061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Five things to remember</a:t>
            </a:r>
            <a:endParaRPr lang="en-US" sz="3200" dirty="0"/>
          </a:p>
        </p:txBody>
      </p:sp>
      <p:sp>
        <p:nvSpPr>
          <p:cNvPr id="4" name="Shape 2"/>
          <p:cNvSpPr/>
          <p:nvPr/>
        </p:nvSpPr>
        <p:spPr>
          <a:xfrm>
            <a:off x="812800" y="2219127"/>
            <a:ext cx="10566400" cy="0"/>
          </a:xfrm>
          <a:prstGeom prst="line">
            <a:avLst/>
          </a:prstGeom>
          <a:noFill/>
          <a:ln w="6350">
            <a:solidFill>
              <a:srgbClr val="E2DED3"/>
            </a:solidFill>
            <a:prstDash val="solid"/>
          </a:ln>
        </p:spPr>
        <p:txBody>
          <a:bodyPr/>
          <a:lstStyle/>
          <a:p>
            <a:endParaRPr lang="en-US"/>
          </a:p>
        </p:txBody>
      </p:sp>
      <p:sp>
        <p:nvSpPr>
          <p:cNvPr id="5" name="Text 3"/>
          <p:cNvSpPr/>
          <p:nvPr/>
        </p:nvSpPr>
        <p:spPr>
          <a:xfrm>
            <a:off x="812800" y="1768971"/>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C25A12"/>
                </a:solidFill>
                <a:latin typeface="JetBrains Mono" pitchFamily="49" charset="0"/>
                <a:ea typeface="JetBrains Mono" pitchFamily="49" charset="-122"/>
                <a:cs typeface="JetBrains Mono" pitchFamily="49" charset="-120"/>
              </a:rPr>
              <a:t>1</a:t>
            </a:r>
            <a:endParaRPr lang="en-US" sz="1800" dirty="0"/>
          </a:p>
        </p:txBody>
      </p:sp>
      <p:sp>
        <p:nvSpPr>
          <p:cNvPr id="6" name="Text 4"/>
          <p:cNvSpPr/>
          <p:nvPr/>
        </p:nvSpPr>
        <p:spPr>
          <a:xfrm>
            <a:off x="1153220" y="1762621"/>
            <a:ext cx="4300895"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14213D"/>
                </a:solidFill>
                <a:latin typeface="IBM Plex Sans" pitchFamily="34" charset="0"/>
                <a:ea typeface="IBM Plex Sans" pitchFamily="34" charset="-122"/>
                <a:cs typeface="IBM Plex Sans" pitchFamily="34" charset="-120"/>
              </a:rPr>
              <a:t>M × N integrations become M + N</a:t>
            </a:r>
            <a:endParaRPr lang="en-US" sz="1900" dirty="0"/>
          </a:p>
        </p:txBody>
      </p:sp>
      <p:sp>
        <p:nvSpPr>
          <p:cNvPr id="7" name="Shape 5"/>
          <p:cNvSpPr/>
          <p:nvPr/>
        </p:nvSpPr>
        <p:spPr>
          <a:xfrm>
            <a:off x="812800" y="2805807"/>
            <a:ext cx="10566400" cy="0"/>
          </a:xfrm>
          <a:prstGeom prst="line">
            <a:avLst/>
          </a:prstGeom>
          <a:noFill/>
          <a:ln w="6350">
            <a:solidFill>
              <a:srgbClr val="E2DED3"/>
            </a:solidFill>
            <a:prstDash val="solid"/>
          </a:ln>
        </p:spPr>
        <p:txBody>
          <a:bodyPr/>
          <a:lstStyle/>
          <a:p>
            <a:endParaRPr lang="en-US"/>
          </a:p>
        </p:txBody>
      </p:sp>
      <p:sp>
        <p:nvSpPr>
          <p:cNvPr id="8" name="Text 6"/>
          <p:cNvSpPr/>
          <p:nvPr/>
        </p:nvSpPr>
        <p:spPr>
          <a:xfrm>
            <a:off x="812800" y="2355652"/>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C25A12"/>
                </a:solidFill>
                <a:latin typeface="JetBrains Mono" pitchFamily="49" charset="0"/>
                <a:ea typeface="JetBrains Mono" pitchFamily="49" charset="-122"/>
                <a:cs typeface="JetBrains Mono" pitchFamily="49" charset="-120"/>
              </a:rPr>
              <a:t>2</a:t>
            </a:r>
            <a:endParaRPr lang="en-US" sz="1800" dirty="0"/>
          </a:p>
        </p:txBody>
      </p:sp>
      <p:sp>
        <p:nvSpPr>
          <p:cNvPr id="9" name="Text 7"/>
          <p:cNvSpPr/>
          <p:nvPr/>
        </p:nvSpPr>
        <p:spPr>
          <a:xfrm>
            <a:off x="1153220" y="2349302"/>
            <a:ext cx="5954554"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14213D"/>
                </a:solidFill>
                <a:latin typeface="IBM Plex Sans" pitchFamily="34" charset="0"/>
                <a:ea typeface="IBM Plex Sans" pitchFamily="34" charset="-122"/>
                <a:cs typeface="IBM Plex Sans" pitchFamily="34" charset="-120"/>
              </a:rPr>
              <a:t>One client per server; the host stays in control</a:t>
            </a:r>
            <a:endParaRPr lang="en-US" sz="1900" dirty="0"/>
          </a:p>
        </p:txBody>
      </p:sp>
      <p:sp>
        <p:nvSpPr>
          <p:cNvPr id="10" name="Shape 8"/>
          <p:cNvSpPr/>
          <p:nvPr/>
        </p:nvSpPr>
        <p:spPr>
          <a:xfrm>
            <a:off x="812800" y="3392488"/>
            <a:ext cx="10566400" cy="0"/>
          </a:xfrm>
          <a:prstGeom prst="line">
            <a:avLst/>
          </a:prstGeom>
          <a:noFill/>
          <a:ln w="6350">
            <a:solidFill>
              <a:srgbClr val="E2DED3"/>
            </a:solidFill>
            <a:prstDash val="solid"/>
          </a:ln>
        </p:spPr>
        <p:txBody>
          <a:bodyPr/>
          <a:lstStyle/>
          <a:p>
            <a:endParaRPr lang="en-US"/>
          </a:p>
        </p:txBody>
      </p:sp>
      <p:sp>
        <p:nvSpPr>
          <p:cNvPr id="11" name="Text 9"/>
          <p:cNvSpPr/>
          <p:nvPr/>
        </p:nvSpPr>
        <p:spPr>
          <a:xfrm>
            <a:off x="812800" y="2942332"/>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C25A12"/>
                </a:solidFill>
                <a:latin typeface="JetBrains Mono" pitchFamily="49" charset="0"/>
                <a:ea typeface="JetBrains Mono" pitchFamily="49" charset="-122"/>
                <a:cs typeface="JetBrains Mono" pitchFamily="49" charset="-120"/>
              </a:rPr>
              <a:t>3</a:t>
            </a:r>
            <a:endParaRPr lang="en-US" sz="1800" dirty="0"/>
          </a:p>
        </p:txBody>
      </p:sp>
      <p:sp>
        <p:nvSpPr>
          <p:cNvPr id="12" name="Text 10"/>
          <p:cNvSpPr/>
          <p:nvPr/>
        </p:nvSpPr>
        <p:spPr>
          <a:xfrm>
            <a:off x="1153220" y="2935982"/>
            <a:ext cx="6590943"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2563C9"/>
                </a:solidFill>
                <a:latin typeface="IBM Plex Sans" pitchFamily="34" charset="0"/>
                <a:ea typeface="IBM Plex Sans" pitchFamily="34" charset="-122"/>
                <a:cs typeface="IBM Plex Sans" pitchFamily="34" charset="-120"/>
              </a:rPr>
              <a:t>Tool = action</a:t>
            </a:r>
            <a:r>
              <a:rPr lang="en-US" sz="1900" dirty="0">
                <a:solidFill>
                  <a:srgbClr val="14213D"/>
                </a:solidFill>
                <a:latin typeface="IBM Plex Sans" pitchFamily="34" charset="0"/>
                <a:ea typeface="IBM Plex Sans" pitchFamily="34" charset="-122"/>
                <a:cs typeface="IBM Plex Sans" pitchFamily="34" charset="-120"/>
              </a:rPr>
              <a:t> · </a:t>
            </a:r>
            <a:r>
              <a:rPr lang="en-US" sz="1900" dirty="0">
                <a:solidFill>
                  <a:srgbClr val="C25A12"/>
                </a:solidFill>
                <a:latin typeface="IBM Plex Sans" pitchFamily="34" charset="0"/>
                <a:ea typeface="IBM Plex Sans" pitchFamily="34" charset="-122"/>
                <a:cs typeface="IBM Plex Sans" pitchFamily="34" charset="-120"/>
              </a:rPr>
              <a:t>resource = data</a:t>
            </a:r>
            <a:r>
              <a:rPr lang="en-US" sz="1900" dirty="0">
                <a:solidFill>
                  <a:srgbClr val="14213D"/>
                </a:solidFill>
                <a:latin typeface="IBM Plex Sans" pitchFamily="34" charset="0"/>
                <a:ea typeface="IBM Plex Sans" pitchFamily="34" charset="-122"/>
                <a:cs typeface="IBM Plex Sans" pitchFamily="34" charset="-120"/>
              </a:rPr>
              <a:t> · </a:t>
            </a:r>
            <a:r>
              <a:rPr lang="en-US" sz="1900" dirty="0">
                <a:solidFill>
                  <a:srgbClr val="2E7D5B"/>
                </a:solidFill>
                <a:latin typeface="IBM Plex Sans" pitchFamily="34" charset="0"/>
                <a:ea typeface="IBM Plex Sans" pitchFamily="34" charset="-122"/>
                <a:cs typeface="IBM Plex Sans" pitchFamily="34" charset="-120"/>
              </a:rPr>
              <a:t>prompt = template</a:t>
            </a:r>
            <a:endParaRPr lang="en-US" sz="1900" dirty="0"/>
          </a:p>
        </p:txBody>
      </p:sp>
      <p:sp>
        <p:nvSpPr>
          <p:cNvPr id="13" name="Shape 11"/>
          <p:cNvSpPr/>
          <p:nvPr/>
        </p:nvSpPr>
        <p:spPr>
          <a:xfrm>
            <a:off x="812800" y="3979168"/>
            <a:ext cx="10566400" cy="0"/>
          </a:xfrm>
          <a:prstGeom prst="line">
            <a:avLst/>
          </a:prstGeom>
          <a:noFill/>
          <a:ln w="6350">
            <a:solidFill>
              <a:srgbClr val="E2DED3"/>
            </a:solidFill>
            <a:prstDash val="solid"/>
          </a:ln>
        </p:spPr>
        <p:txBody>
          <a:bodyPr/>
          <a:lstStyle/>
          <a:p>
            <a:endParaRPr lang="en-US"/>
          </a:p>
        </p:txBody>
      </p:sp>
      <p:sp>
        <p:nvSpPr>
          <p:cNvPr id="14" name="Text 12"/>
          <p:cNvSpPr/>
          <p:nvPr/>
        </p:nvSpPr>
        <p:spPr>
          <a:xfrm>
            <a:off x="812800" y="3529013"/>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C25A12"/>
                </a:solidFill>
                <a:latin typeface="JetBrains Mono" pitchFamily="49" charset="0"/>
                <a:ea typeface="JetBrains Mono" pitchFamily="49" charset="-122"/>
                <a:cs typeface="JetBrains Mono" pitchFamily="49" charset="-120"/>
              </a:rPr>
              <a:t>4</a:t>
            </a:r>
            <a:endParaRPr lang="en-US" sz="1800" dirty="0"/>
          </a:p>
        </p:txBody>
      </p:sp>
      <p:sp>
        <p:nvSpPr>
          <p:cNvPr id="15" name="Text 13"/>
          <p:cNvSpPr/>
          <p:nvPr/>
        </p:nvSpPr>
        <p:spPr>
          <a:xfrm>
            <a:off x="1153220" y="3522663"/>
            <a:ext cx="5576173"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14213D"/>
                </a:solidFill>
                <a:latin typeface="IBM Plex Sans" pitchFamily="34" charset="0"/>
                <a:ea typeface="IBM Plex Sans" pitchFamily="34" charset="-122"/>
                <a:cs typeface="IBM Plex Sans" pitchFamily="34" charset="-120"/>
              </a:rPr>
              <a:t>Works with function calling, REST, and RAG</a:t>
            </a:r>
            <a:endParaRPr lang="en-US" sz="1900" dirty="0"/>
          </a:p>
        </p:txBody>
      </p:sp>
      <p:sp>
        <p:nvSpPr>
          <p:cNvPr id="16" name="Text 14"/>
          <p:cNvSpPr/>
          <p:nvPr/>
        </p:nvSpPr>
        <p:spPr>
          <a:xfrm>
            <a:off x="812800" y="4115693"/>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C25A12"/>
                </a:solidFill>
                <a:latin typeface="JetBrains Mono" pitchFamily="49" charset="0"/>
                <a:ea typeface="JetBrains Mono" pitchFamily="49" charset="-122"/>
                <a:cs typeface="JetBrains Mono" pitchFamily="49" charset="-120"/>
              </a:rPr>
              <a:t>5</a:t>
            </a:r>
            <a:endParaRPr lang="en-US" sz="1800" dirty="0"/>
          </a:p>
        </p:txBody>
      </p:sp>
      <p:sp>
        <p:nvSpPr>
          <p:cNvPr id="17" name="Text 15"/>
          <p:cNvSpPr/>
          <p:nvPr/>
        </p:nvSpPr>
        <p:spPr>
          <a:xfrm>
            <a:off x="1153220" y="4109343"/>
            <a:ext cx="5221367"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14213D"/>
                </a:solidFill>
                <a:latin typeface="IBM Plex Sans" pitchFamily="34" charset="0"/>
                <a:ea typeface="IBM Plex Sans" pitchFamily="34" charset="-122"/>
                <a:cs typeface="IBM Plex Sans" pitchFamily="34" charset="-120"/>
              </a:rPr>
              <a:t>Stateless since 2026-07-28, so it scales</a:t>
            </a:r>
            <a:endParaRPr lang="en-US" sz="1900" dirty="0"/>
          </a:p>
        </p:txBody>
      </p:sp>
      <p:sp>
        <p:nvSpPr>
          <p:cNvPr id="18" name="Text 16"/>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6B7280"/>
                </a:solidFill>
                <a:latin typeface="JetBrains Mono" pitchFamily="49" charset="0"/>
                <a:ea typeface="JetBrains Mono" pitchFamily="49" charset="-122"/>
                <a:cs typeface="JetBrains Mono" pitchFamily="49"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71120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7F5EF"/>
                </a:solidFill>
                <a:latin typeface="IBM Plex Sans" pitchFamily="34" charset="0"/>
                <a:ea typeface="IBM Plex Sans" pitchFamily="34" charset="-122"/>
                <a:cs typeface="IBM Plex Sans" pitchFamily="34" charset="-120"/>
              </a:rPr>
              <a:t>Questions?</a:t>
            </a:r>
            <a:endParaRPr lang="en-US" sz="5600" dirty="0"/>
          </a:p>
        </p:txBody>
      </p:sp>
      <p:sp>
        <p:nvSpPr>
          <p:cNvPr id="3" name="Text 1"/>
          <p:cNvSpPr/>
          <p:nvPr/>
        </p:nvSpPr>
        <p:spPr>
          <a:xfrm>
            <a:off x="812800" y="1762720"/>
            <a:ext cx="525856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0A35E"/>
                </a:solidFill>
                <a:latin typeface="JetBrains Mono" pitchFamily="49" charset="0"/>
                <a:ea typeface="JetBrains Mono" pitchFamily="49" charset="-122"/>
                <a:cs typeface="JetBrains Mono" pitchFamily="49" charset="-120"/>
              </a:rPr>
              <a:t>TO DISCUSS</a:t>
            </a:r>
            <a:endParaRPr lang="en-US" sz="1400" dirty="0"/>
          </a:p>
        </p:txBody>
      </p:sp>
      <p:sp>
        <p:nvSpPr>
          <p:cNvPr id="4" name="Text 2"/>
          <p:cNvSpPr/>
          <p:nvPr/>
        </p:nvSpPr>
        <p:spPr>
          <a:xfrm>
            <a:off x="812800" y="2163961"/>
            <a:ext cx="54610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7F5EF"/>
                </a:solidFill>
                <a:latin typeface="IBM Plex Sans" pitchFamily="34" charset="0"/>
                <a:ea typeface="IBM Plex Sans" pitchFamily="34" charset="-122"/>
                <a:cs typeface="IBM Plex Sans" pitchFamily="34" charset="-120"/>
              </a:rPr>
              <a:t>Should a model ever run a write tool without asking?</a:t>
            </a:r>
            <a:endParaRPr lang="en-US" sz="1700" dirty="0"/>
          </a:p>
        </p:txBody>
      </p:sp>
      <p:sp>
        <p:nvSpPr>
          <p:cNvPr id="5" name="Text 3"/>
          <p:cNvSpPr/>
          <p:nvPr/>
        </p:nvSpPr>
        <p:spPr>
          <a:xfrm>
            <a:off x="812800" y="2618581"/>
            <a:ext cx="525856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7F5EF"/>
                </a:solidFill>
                <a:latin typeface="IBM Plex Sans" pitchFamily="34" charset="0"/>
                <a:ea typeface="IBM Plex Sans" pitchFamily="34" charset="-122"/>
                <a:cs typeface="IBM Plex Sans" pitchFamily="34" charset="-120"/>
              </a:rPr>
              <a:t>What do long-running agents lose with stateless?</a:t>
            </a:r>
            <a:endParaRPr lang="en-US" sz="1700" dirty="0"/>
          </a:p>
        </p:txBody>
      </p:sp>
      <p:sp>
        <p:nvSpPr>
          <p:cNvPr id="6" name="Text 4"/>
          <p:cNvSpPr/>
          <p:nvPr/>
        </p:nvSpPr>
        <p:spPr>
          <a:xfrm>
            <a:off x="812800" y="3073202"/>
            <a:ext cx="525856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7F5EF"/>
                </a:solidFill>
                <a:latin typeface="IBM Plex Sans" pitchFamily="34" charset="0"/>
                <a:ea typeface="IBM Plex Sans" pitchFamily="34" charset="-122"/>
                <a:cs typeface="IBM Plex Sans" pitchFamily="34" charset="-120"/>
              </a:rPr>
              <a:t>How would you check a server is safe to install?</a:t>
            </a:r>
            <a:endParaRPr lang="en-US" sz="1700" dirty="0"/>
          </a:p>
        </p:txBody>
      </p:sp>
      <p:sp>
        <p:nvSpPr>
          <p:cNvPr id="7" name="Text 5"/>
          <p:cNvSpPr/>
          <p:nvPr/>
        </p:nvSpPr>
        <p:spPr>
          <a:xfrm>
            <a:off x="6273800" y="1762720"/>
            <a:ext cx="525856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0A35E"/>
                </a:solidFill>
                <a:latin typeface="JetBrains Mono" pitchFamily="49" charset="0"/>
                <a:ea typeface="JetBrains Mono" pitchFamily="49" charset="-122"/>
                <a:cs typeface="JetBrains Mono" pitchFamily="49" charset="-120"/>
              </a:rPr>
              <a:t>REFERENCES</a:t>
            </a:r>
            <a:endParaRPr lang="en-US" sz="1400" dirty="0"/>
          </a:p>
        </p:txBody>
      </p:sp>
      <p:sp>
        <p:nvSpPr>
          <p:cNvPr id="8" name="Text 6"/>
          <p:cNvSpPr/>
          <p:nvPr/>
        </p:nvSpPr>
        <p:spPr>
          <a:xfrm>
            <a:off x="6273800" y="2163961"/>
            <a:ext cx="525856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5EF"/>
                </a:solidFill>
                <a:latin typeface="IBM Plex Sans" pitchFamily="34" charset="0"/>
                <a:ea typeface="IBM Plex Sans" pitchFamily="34" charset="-122"/>
                <a:cs typeface="IBM Plex Sans" pitchFamily="34" charset="-120"/>
              </a:rPr>
              <a:t>modelcontextprotocol.io</a:t>
            </a:r>
            <a:endParaRPr lang="en-US" sz="1600" dirty="0"/>
          </a:p>
        </p:txBody>
      </p:sp>
      <p:sp>
        <p:nvSpPr>
          <p:cNvPr id="9" name="Text 7"/>
          <p:cNvSpPr/>
          <p:nvPr/>
        </p:nvSpPr>
        <p:spPr>
          <a:xfrm>
            <a:off x="6273800" y="2600821"/>
            <a:ext cx="525856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pitchFamily="34" charset="0"/>
                <a:ea typeface="IBM Plex Sans" pitchFamily="34" charset="-122"/>
                <a:cs typeface="IBM Plex Sans" pitchFamily="34" charset="-120"/>
              </a:rPr>
              <a:t>Docs (2026-07-28): Introduction, Architecture</a:t>
            </a:r>
            <a:endParaRPr lang="en-US" sz="1500" dirty="0"/>
          </a:p>
        </p:txBody>
      </p:sp>
      <p:sp>
        <p:nvSpPr>
          <p:cNvPr id="10" name="Text 8"/>
          <p:cNvSpPr/>
          <p:nvPr/>
        </p:nvSpPr>
        <p:spPr>
          <a:xfrm>
            <a:off x="6273800" y="3019921"/>
            <a:ext cx="525856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pitchFamily="34" charset="0"/>
                <a:ea typeface="IBM Plex Sans" pitchFamily="34" charset="-122"/>
                <a:cs typeface="IBM Plex Sans" pitchFamily="34" charset="-120"/>
              </a:rPr>
              <a:t>Spec (2026-07-28): Tools, Resources, Prompts, Authorization, Changelog</a:t>
            </a:r>
            <a:endParaRPr lang="en-US" sz="1500" dirty="0"/>
          </a:p>
        </p:txBody>
      </p:sp>
      <p:sp>
        <p:nvSpPr>
          <p:cNvPr id="11" name="Text 9"/>
          <p:cNvSpPr/>
          <p:nvPr/>
        </p:nvSpPr>
        <p:spPr>
          <a:xfrm>
            <a:off x="10058400" y="6253559"/>
            <a:ext cx="1320800"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8FA3BF"/>
                </a:solidFill>
                <a:latin typeface="JetBrains Mono" pitchFamily="49" charset="0"/>
                <a:ea typeface="JetBrains Mono" pitchFamily="49" charset="-122"/>
                <a:cs typeface="JetBrains Mono" pitchFamily="49" charset="-120"/>
              </a:rPr>
              <a:t>29</a:t>
            </a:r>
            <a:endParaRPr lang="en-US" sz="1400" dirty="0"/>
          </a:p>
        </p:txBody>
      </p:sp>
    </p:spTree>
  </p:cSld>
  <p:clrMapOvr>
    <a:masterClrMapping/>
  </p:clrMapOvr>
</p:sld>
</file>

<file path=ppt/theme/theme1.xml><?xml version="1.0" encoding="utf-8"?>
<a:theme xmlns:a="http://schemas.openxmlformats.org/drawingml/2006/main" name="Model Context Protocol (MCP)">
  <a:themeElements>
    <a:clrScheme name="Model Context Protocol (MCP)">
      <a:dk1>
        <a:srgbClr val="14213D"/>
      </a:dk1>
      <a:lt1>
        <a:srgbClr val="F7F5EF"/>
      </a:lt1>
      <a:dk2>
        <a:srgbClr val="4D566A"/>
      </a:dk2>
      <a:lt2>
        <a:srgbClr val="E0E0DD"/>
      </a:lt2>
      <a:accent1>
        <a:srgbClr val="C25A12"/>
      </a:accent1>
      <a:accent2>
        <a:srgbClr val="2563C9"/>
      </a:accent2>
      <a:accent3>
        <a:srgbClr val="F0A35E"/>
      </a:accent3>
      <a:accent4>
        <a:srgbClr val="7FA8F0"/>
      </a:accent4>
      <a:accent5>
        <a:srgbClr val="8FA3BF"/>
      </a:accent5>
      <a:accent6>
        <a:srgbClr val="7CCBA2"/>
      </a:accent6>
      <a:hlink>
        <a:srgbClr val="0563C1"/>
      </a:hlink>
      <a:folHlink>
        <a:srgbClr val="954F72"/>
      </a:folHlink>
    </a:clrScheme>
    <a:fontScheme name="Model Context Protocol (MC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7549</Words>
  <Application>Microsoft Office PowerPoint</Application>
  <PresentationFormat>Widescreen</PresentationFormat>
  <Paragraphs>547</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IBM Plex Sans</vt:lpstr>
      <vt:lpstr>JetBrains Mono</vt:lpstr>
      <vt:lpstr>Model Context Protocol (MCP)</vt:lpstr>
      <vt:lpstr>Model Context Protocol (MCP)</vt:lpstr>
      <vt:lpstr>Agenda</vt:lpstr>
      <vt:lpstr>Words you will hear today</vt:lpstr>
      <vt:lpstr>Every AI app wired every tool by hand</vt:lpstr>
      <vt:lpstr>From one company's idea to an open standard</vt:lpstr>
      <vt:lpstr>Host, client, and server</vt:lpstr>
      <vt:lpstr>Who's who, in plain words</vt:lpstr>
      <vt:lpstr>Two layers: what is said, how it travels</vt:lpstr>
      <vt:lpstr>Three things a server can offer</vt:lpstr>
      <vt:lpstr>Tools: functions the model can call</vt:lpstr>
      <vt:lpstr>Resources: data with an address</vt:lpstr>
      <vt:lpstr>Prompts: templates the user picks</vt:lpstr>
      <vt:lpstr>The client asks at runtime</vt:lpstr>
      <vt:lpstr>One tool call, end to end</vt:lpstr>
      <vt:lpstr>Two standard transports</vt:lpstr>
      <vt:lpstr>The flow: standard OAuth 2.1</vt:lpstr>
      <vt:lpstr>Four rules that matter</vt:lpstr>
      <vt:lpstr>Login is not enough</vt:lpstr>
      <vt:lpstr>MCP vs. direct function calling</vt:lpstr>
      <vt:lpstr>MCP vs. REST APIs</vt:lpstr>
      <vt:lpstr>MCP vs. RAG</vt:lpstr>
      <vt:lpstr>Each version is named by its date</vt:lpstr>
      <vt:lpstr>MCP became stateless</vt:lpstr>
      <vt:lpstr>Deprecated and moved out</vt:lpstr>
      <vt:lpstr>Paper Library: one resource, two tools</vt:lpstr>
      <vt:lpstr>The server in a few lines</vt:lpstr>
      <vt:lpstr>What to watch for</vt:lpstr>
      <vt:lpstr>Five things to remember</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Context Protocol (MCP)</dc:title>
  <dc:subject/>
  <dc:creator/>
  <cp:lastModifiedBy>Shah, Suvash</cp:lastModifiedBy>
  <cp:revision>2</cp:revision>
  <dcterms:created xsi:type="dcterms:W3CDTF">2026-10-06T04:37:44Z</dcterms:created>
  <dcterms:modified xsi:type="dcterms:W3CDTF">2026-10-06T06:07:32Z</dcterms:modified>
</cp:coreProperties>
</file>